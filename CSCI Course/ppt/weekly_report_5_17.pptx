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423" r:id="rId3"/>
    <p:sldId id="424" r:id="rId5"/>
    <p:sldId id="446" r:id="rId6"/>
    <p:sldId id="428" r:id="rId7"/>
    <p:sldId id="425" r:id="rId8"/>
    <p:sldId id="430" r:id="rId9"/>
    <p:sldId id="433" r:id="rId10"/>
    <p:sldId id="436" r:id="rId11"/>
    <p:sldId id="438" r:id="rId12"/>
    <p:sldId id="455" r:id="rId13"/>
    <p:sldId id="427" r:id="rId14"/>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6322"/>
  </p:normalViewPr>
  <p:slideViewPr>
    <p:cSldViewPr snapToGrid="0">
      <p:cViewPr varScale="1">
        <p:scale>
          <a:sx n="128" d="100"/>
          <a:sy n="128" d="100"/>
        </p:scale>
        <p:origin x="1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45.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6D457-D595-D74A-B943-9BE89BF181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9FDB8-D5FC-364C-AEB4-B7B45138951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9974146-AD47-D54A-ADAE-EACD76BE34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974146-AD47-D54A-ADAE-EACD76BE34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9974146-AD47-D54A-ADAE-EACD76BE34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9974146-AD47-D54A-ADAE-EACD76BE34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9974146-AD47-D54A-ADAE-EACD76BE342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9974146-AD47-D54A-ADAE-EACD76BE342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74146-AD47-D54A-ADAE-EACD76BE342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9974146-AD47-D54A-ADAE-EACD76BE34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9974146-AD47-D54A-ADAE-EACD76BE342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974146-AD47-D54A-ADAE-EACD76BE34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974146-AD47-D54A-ADAE-EACD76BE342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grpSp>
        <p:nvGrpSpPr>
          <p:cNvPr id="5" name="组合 4"/>
          <p:cNvGrpSpPr/>
          <p:nvPr userDrawn="1"/>
        </p:nvGrpSpPr>
        <p:grpSpPr>
          <a:xfrm flipV="1">
            <a:off x="0" y="6487888"/>
            <a:ext cx="12192000" cy="370112"/>
            <a:chOff x="0" y="-40730"/>
            <a:chExt cx="12192000" cy="370112"/>
          </a:xfrm>
        </p:grpSpPr>
        <p:sp>
          <p:nvSpPr>
            <p:cNvPr id="6" name="矩形 5"/>
            <p:cNvSpPr/>
            <p:nvPr userDrawn="1"/>
          </p:nvSpPr>
          <p:spPr>
            <a:xfrm>
              <a:off x="0" y="-40730"/>
              <a:ext cx="12192000" cy="3701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7" name="矩形 6"/>
            <p:cNvSpPr/>
            <p:nvPr userDrawn="1"/>
          </p:nvSpPr>
          <p:spPr>
            <a:xfrm>
              <a:off x="0" y="-40730"/>
              <a:ext cx="12192000" cy="285614"/>
            </a:xfrm>
            <a:prstGeom prst="rect">
              <a:avLst/>
            </a:prstGeom>
            <a:solidFill>
              <a:srgbClr val="005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grpSp>
      <p:sp>
        <p:nvSpPr>
          <p:cNvPr id="96" name="菱形 95"/>
          <p:cNvSpPr/>
          <p:nvPr userDrawn="1"/>
        </p:nvSpPr>
        <p:spPr>
          <a:xfrm>
            <a:off x="600451" y="370197"/>
            <a:ext cx="372167" cy="372166"/>
          </a:xfrm>
          <a:prstGeom prst="diamond">
            <a:avLst/>
          </a:prstGeom>
          <a:solidFill>
            <a:schemeClr val="bg1">
              <a:lumMod val="85000"/>
            </a:schemeClr>
          </a:solidFill>
          <a:ln w="19050">
            <a:solidFill>
              <a:srgbClr val="005C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97" name="菱形 96"/>
          <p:cNvSpPr/>
          <p:nvPr userDrawn="1"/>
        </p:nvSpPr>
        <p:spPr>
          <a:xfrm>
            <a:off x="356797" y="312627"/>
            <a:ext cx="487308" cy="487307"/>
          </a:xfrm>
          <a:prstGeom prst="diamond">
            <a:avLst/>
          </a:prstGeom>
          <a:solidFill>
            <a:srgbClr val="005CA2"/>
          </a:solidFill>
          <a:ln>
            <a:solidFill>
              <a:srgbClr val="004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3" name="内容占位符 2"/>
          <p:cNvSpPr>
            <a:spLocks noGrp="1"/>
          </p:cNvSpPr>
          <p:nvPr>
            <p:ph sz="quarter" idx="10" hasCustomPrompt="1"/>
          </p:nvPr>
        </p:nvSpPr>
        <p:spPr>
          <a:xfrm>
            <a:off x="1078230" y="357505"/>
            <a:ext cx="5685155" cy="441960"/>
          </a:xfrm>
          <a:prstGeom prst="rect">
            <a:avLst/>
          </a:prstGeom>
        </p:spPr>
        <p:txBody>
          <a:bodyPr/>
          <a:lstStyle>
            <a:lvl1pPr marL="0" indent="0">
              <a:buNone/>
              <a:defRPr b="1">
                <a:solidFill>
                  <a:srgbClr val="005CA2"/>
                </a:solidFill>
                <a:latin typeface="微软雅黑" panose="020B0503020204020204" charset="-122"/>
                <a:ea typeface="微软雅黑" panose="020B0503020204020204" charset="-122"/>
              </a:defRPr>
            </a:lvl1pPr>
            <a:lvl2pPr marL="457200" indent="0">
              <a:buNone/>
              <a:defRPr b="1">
                <a:solidFill>
                  <a:schemeClr val="accent1"/>
                </a:solidFill>
                <a:latin typeface="+mj-ea"/>
                <a:ea typeface="+mj-ea"/>
              </a:defRPr>
            </a:lvl2pPr>
          </a:lstStyle>
          <a:p>
            <a:pPr lvl="0"/>
            <a:r>
              <a:rPr lang="zh-CN" altLang="en-US" dirty="0"/>
              <a:t>编辑母版文本样式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74146-AD47-D54A-ADAE-EACD76BE342A}"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251F9-74DE-384F-8BBE-4068C9F0724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2.xml"/><Relationship Id="rId7" Type="http://schemas.openxmlformats.org/officeDocument/2006/relationships/image" Target="../media/image4.png"/><Relationship Id="rId6" Type="http://schemas.openxmlformats.org/officeDocument/2006/relationships/tags" Target="../tags/tag23.xml"/><Relationship Id="rId5" Type="http://schemas.openxmlformats.org/officeDocument/2006/relationships/image" Target="../media/image3.png"/><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s>
</file>

<file path=ppt/slides/_rels/slide9.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37.xml"/><Relationship Id="rId7" Type="http://schemas.openxmlformats.org/officeDocument/2006/relationships/image" Target="../media/image8.png"/><Relationship Id="rId6" Type="http://schemas.openxmlformats.org/officeDocument/2006/relationships/tags" Target="../tags/tag36.xml"/><Relationship Id="rId5" Type="http://schemas.openxmlformats.org/officeDocument/2006/relationships/image" Target="../media/image7.png"/><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3" Type="http://schemas.openxmlformats.org/officeDocument/2006/relationships/notesSlide" Target="../notesSlides/notesSlide9.xml"/><Relationship Id="rId12" Type="http://schemas.openxmlformats.org/officeDocument/2006/relationships/slideLayout" Target="../slideLayouts/slideLayout12.xml"/><Relationship Id="rId11" Type="http://schemas.openxmlformats.org/officeDocument/2006/relationships/image" Target="../media/image10.png"/><Relationship Id="rId10" Type="http://schemas.openxmlformats.org/officeDocument/2006/relationships/tags" Target="../tags/tag38.xml"/><Relationship Id="rId1" Type="http://schemas.openxmlformats.org/officeDocument/2006/relationships/tags" Target="../tags/tag32.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Planed</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2875280"/>
            <a:chOff x="839" y="1816"/>
            <a:chExt cx="8083" cy="4528"/>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Planed 1</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39" y="2323"/>
              <a:ext cx="8083" cy="4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Have a rough idea of the PE format and the analysis of PE format.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Download PE-bear ,HxD</a:t>
              </a:r>
              <a:r>
                <a:rPr lang="zh-CN" altLang="en-US" sz="1700" dirty="0">
                  <a:solidFill>
                    <a:schemeClr val="tx1"/>
                  </a:solidFill>
                  <a:latin typeface="Palatino Linotype" panose="02040502050505030304" charset="0"/>
                  <a:cs typeface="Palatino Linotype" panose="02040502050505030304" charset="0"/>
                  <a:sym typeface="+mn-ea"/>
                </a:rPr>
                <a:t>，</a:t>
              </a:r>
              <a:r>
                <a:rPr lang="en-US" altLang="zh-CN" sz="1700" dirty="0">
                  <a:solidFill>
                    <a:schemeClr val="tx1"/>
                  </a:solidFill>
                  <a:latin typeface="Palatino Linotype" panose="02040502050505030304" charset="0"/>
                  <a:cs typeface="Palatino Linotype" panose="02040502050505030304" charset="0"/>
                  <a:sym typeface="+mn-ea"/>
                </a:rPr>
                <a:t>010</a:t>
              </a:r>
              <a:r>
                <a:rPr lang="en-US" altLang="zh-CN" sz="1700" dirty="0">
                  <a:solidFill>
                    <a:schemeClr val="tx1"/>
                  </a:solidFill>
                  <a:latin typeface="Palatino Linotype" panose="02040502050505030304" charset="0"/>
                  <a:cs typeface="Palatino Linotype" panose="02040502050505030304" charset="0"/>
                  <a:sym typeface="+mn-ea"/>
                </a:rPr>
                <a:t>Editor and IDA.</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Finish learning the part1 overview and part2 DOS Header,DOS Stub and Rich Header.</a:t>
              </a: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5246370"/>
            <a:chOff x="839" y="1816"/>
            <a:chExt cx="8083" cy="826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1</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39" y="2401"/>
              <a:ext cx="8083" cy="7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sz="1700" dirty="0">
                  <a:solidFill>
                    <a:schemeClr val="tx1"/>
                  </a:solidFill>
                  <a:latin typeface="Palatino Linotype" panose="02040502050505030304" charset="0"/>
                  <a:cs typeface="Palatino Linotype" panose="02040502050505030304" charset="0"/>
                  <a:sym typeface="+mn-ea"/>
                </a:rPr>
                <a:t>Finished a part of the online course called “Windows the analysis of PE format” in bilibili.</a:t>
              </a:r>
              <a:endParaRPr lang="en-US"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In imitation of the online course i did some coding of analysing the PE format,the screenshot on the right .The five functions i have realized by coding.By coding the functions i have a general idea about the  way to store the exe file in the memory.I know the file is saved in hexadecimal form,when we run the file there will be a virsual memory for the file,so the file will have a virtual address.As a PE file,each substruct has a virtual address,i can define a pointer to get the start virtual address of each part and realize some operations.</a:t>
              </a: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4" name="图片 3"/>
          <p:cNvPicPr>
            <a:picLocks noChangeAspect="1"/>
          </p:cNvPicPr>
          <p:nvPr>
            <p:custDataLst>
              <p:tags r:id="rId4"/>
            </p:custDataLst>
          </p:nvPr>
        </p:nvPicPr>
        <p:blipFill>
          <a:blip r:embed="rId5"/>
          <a:stretch>
            <a:fillRect/>
          </a:stretch>
        </p:blipFill>
        <p:spPr>
          <a:xfrm>
            <a:off x="6148070" y="325755"/>
            <a:ext cx="4826000" cy="271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2</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5246370"/>
            <a:chOff x="839" y="1816"/>
            <a:chExt cx="8083" cy="826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2</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39" y="2401"/>
              <a:ext cx="8083" cy="7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Up to now i failed to download the IDA,but it doesn’t matter,i will do that.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have just studied the part1 and DOS Header,DOS </a:t>
              </a:r>
              <a:r>
                <a:rPr lang="en-US" altLang="zh-CN" sz="1700" dirty="0">
                  <a:solidFill>
                    <a:schemeClr val="tx1"/>
                  </a:solidFill>
                  <a:latin typeface="Palatino Linotype" panose="02040502050505030304" charset="0"/>
                  <a:cs typeface="Palatino Linotype" panose="02040502050505030304" charset="0"/>
                  <a:sym typeface="+mn-ea"/>
                </a:rPr>
                <a:t>Stub.</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These days i read English everyday!!!</a:t>
              </a:r>
              <a:r>
                <a:rPr lang="zh-CN" altLang="en-US" sz="1700" dirty="0">
                  <a:solidFill>
                    <a:schemeClr val="tx1"/>
                  </a:solidFill>
                  <a:latin typeface="Palatino Linotype" panose="02040502050505030304" charset="0"/>
                  <a:cs typeface="Palatino Linotype" panose="02040502050505030304" charset="0"/>
                  <a:sym typeface="+mn-ea"/>
                </a:rPr>
                <a:t>（感觉看英文都比中文</a:t>
              </a:r>
              <a:r>
                <a:rPr lang="zh-CN" altLang="en-US" sz="1700" dirty="0">
                  <a:solidFill>
                    <a:schemeClr val="tx1"/>
                  </a:solidFill>
                  <a:latin typeface="Palatino Linotype" panose="02040502050505030304" charset="0"/>
                  <a:cs typeface="Palatino Linotype" panose="02040502050505030304" charset="0"/>
                  <a:sym typeface="+mn-ea"/>
                </a:rPr>
                <a:t>顺眼了）</a:t>
              </a: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87425" y="97155"/>
            <a:ext cx="3154045" cy="1491615"/>
          </a:xfrm>
          <a:prstGeom prst="rect">
            <a:avLst/>
          </a:prstGeom>
          <a:noFill/>
        </p:spPr>
        <p:txBody>
          <a:bodyPr wrap="square" rtlCol="0">
            <a:spAutoFit/>
          </a:bodyPr>
          <a:lstStyle/>
          <a:p>
            <a:pPr algn="ctr">
              <a:lnSpc>
                <a:spcPct val="130000"/>
              </a:lnSpc>
              <a:spcBef>
                <a:spcPts val="600"/>
              </a:spcBef>
            </a:pP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Results1 in Chinese</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5246370"/>
            <a:chOff x="839" y="1816"/>
            <a:chExt cx="8083" cy="826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1</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39" y="2401"/>
              <a:ext cx="8083" cy="7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zh-CN" altLang="en-US" sz="1700" dirty="0">
                  <a:solidFill>
                    <a:schemeClr val="tx1"/>
                  </a:solidFill>
                  <a:latin typeface="Palatino Linotype" panose="02040502050505030304" charset="0"/>
                  <a:cs typeface="Palatino Linotype" panose="02040502050505030304" charset="0"/>
                  <a:sym typeface="+mn-ea"/>
                </a:rPr>
                <a:t>看完了</a:t>
              </a:r>
              <a:r>
                <a:rPr lang="en-US" altLang="zh-CN" sz="1700" dirty="0">
                  <a:solidFill>
                    <a:schemeClr val="tx1"/>
                  </a:solidFill>
                  <a:latin typeface="Palatino Linotype" panose="02040502050505030304" charset="0"/>
                  <a:cs typeface="Palatino Linotype" panose="02040502050505030304" charset="0"/>
                  <a:sym typeface="+mn-ea"/>
                </a:rPr>
                <a:t>b</a:t>
              </a:r>
              <a:r>
                <a:rPr lang="zh-CN" altLang="en-US" sz="1700" dirty="0">
                  <a:solidFill>
                    <a:schemeClr val="tx1"/>
                  </a:solidFill>
                  <a:latin typeface="Palatino Linotype" panose="02040502050505030304" charset="0"/>
                  <a:cs typeface="Palatino Linotype" panose="02040502050505030304" charset="0"/>
                  <a:sym typeface="+mn-ea"/>
                </a:rPr>
                <a:t>站上的一个</a:t>
              </a:r>
              <a:r>
                <a:rPr lang="en-US" altLang="zh-CN" sz="1700" dirty="0">
                  <a:solidFill>
                    <a:schemeClr val="tx1"/>
                  </a:solidFill>
                  <a:latin typeface="Palatino Linotype" panose="02040502050505030304" charset="0"/>
                  <a:cs typeface="Palatino Linotype" panose="02040502050505030304" charset="0"/>
                  <a:sym typeface="+mn-ea"/>
                </a:rPr>
                <a:t>PE</a:t>
              </a:r>
              <a:r>
                <a:rPr lang="zh-CN" altLang="en-US" sz="1700" dirty="0">
                  <a:solidFill>
                    <a:schemeClr val="tx1"/>
                  </a:solidFill>
                  <a:latin typeface="Palatino Linotype" panose="02040502050505030304" charset="0"/>
                  <a:cs typeface="Palatino Linotype" panose="02040502050505030304" charset="0"/>
                  <a:sym typeface="+mn-ea"/>
                </a:rPr>
                <a:t>文件解析的网课，时间是</a:t>
              </a:r>
              <a:r>
                <a:rPr lang="en-US" altLang="zh-CN" sz="1700" dirty="0">
                  <a:solidFill>
                    <a:schemeClr val="tx1"/>
                  </a:solidFill>
                  <a:latin typeface="Palatino Linotype" panose="02040502050505030304" charset="0"/>
                  <a:cs typeface="Palatino Linotype" panose="02040502050505030304" charset="0"/>
                  <a:sym typeface="+mn-ea"/>
                </a:rPr>
                <a:t>3h30minutes</a:t>
              </a:r>
              <a:r>
                <a:rPr lang="zh-CN" altLang="en-US" sz="1700" dirty="0">
                  <a:solidFill>
                    <a:schemeClr val="tx1"/>
                  </a:solidFill>
                  <a:latin typeface="Palatino Linotype" panose="02040502050505030304" charset="0"/>
                  <a:cs typeface="Palatino Linotype" panose="02040502050505030304" charset="0"/>
                  <a:sym typeface="+mn-ea"/>
                </a:rPr>
                <a:t>但是我看了大概</a:t>
              </a:r>
              <a:r>
                <a:rPr lang="zh-CN" altLang="en-US" sz="1700" dirty="0">
                  <a:solidFill>
                    <a:schemeClr val="tx1"/>
                  </a:solidFill>
                  <a:latin typeface="Palatino Linotype" panose="02040502050505030304" charset="0"/>
                  <a:cs typeface="Palatino Linotype" panose="02040502050505030304" charset="0"/>
                  <a:sym typeface="+mn-ea"/>
                </a:rPr>
                <a:t>七小时</a:t>
              </a:r>
              <a:endParaRPr lang="zh-CN" altLang="en-US"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zh-CN" altLang="en-US" sz="1700" dirty="0">
                  <a:solidFill>
                    <a:schemeClr val="tx1"/>
                  </a:solidFill>
                  <a:latin typeface="Palatino Linotype" panose="02040502050505030304" charset="0"/>
                  <a:cs typeface="Palatino Linotype" panose="02040502050505030304" charset="0"/>
                  <a:sym typeface="+mn-ea"/>
                </a:rPr>
                <a:t>模仿着网课上面的</a:t>
              </a:r>
              <a:r>
                <a:rPr lang="en-US" altLang="zh-CN" sz="1700" dirty="0">
                  <a:solidFill>
                    <a:schemeClr val="tx1"/>
                  </a:solidFill>
                  <a:latin typeface="Palatino Linotype" panose="02040502050505030304" charset="0"/>
                  <a:cs typeface="Palatino Linotype" panose="02040502050505030304" charset="0"/>
                  <a:sym typeface="+mn-ea"/>
                </a:rPr>
                <a:t>code</a:t>
              </a:r>
              <a:r>
                <a:rPr lang="zh-CN" altLang="en-US" sz="1700" dirty="0">
                  <a:solidFill>
                    <a:schemeClr val="tx1"/>
                  </a:solidFill>
                  <a:latin typeface="Palatino Linotype" panose="02040502050505030304" charset="0"/>
                  <a:cs typeface="Palatino Linotype" panose="02040502050505030304" charset="0"/>
                  <a:sym typeface="+mn-ea"/>
                </a:rPr>
                <a:t>写了一些函数用于解析</a:t>
              </a:r>
              <a:r>
                <a:rPr lang="en-US" altLang="zh-CN" sz="1700" dirty="0">
                  <a:solidFill>
                    <a:schemeClr val="tx1"/>
                  </a:solidFill>
                  <a:latin typeface="Palatino Linotype" panose="02040502050505030304" charset="0"/>
                  <a:cs typeface="Palatino Linotype" panose="02040502050505030304" charset="0"/>
                  <a:sym typeface="+mn-ea"/>
                </a:rPr>
                <a:t>PE</a:t>
              </a:r>
              <a:r>
                <a:rPr lang="zh-CN" altLang="en-US" sz="1700" dirty="0">
                  <a:solidFill>
                    <a:schemeClr val="tx1"/>
                  </a:solidFill>
                  <a:latin typeface="Palatino Linotype" panose="02040502050505030304" charset="0"/>
                  <a:cs typeface="Palatino Linotype" panose="02040502050505030304" charset="0"/>
                  <a:sym typeface="+mn-ea"/>
                </a:rPr>
                <a:t>文件结构第一个是用来计算偏移量的，第一个参数是某个表的虚拟地址，第二个参数是读取的这个</a:t>
              </a:r>
              <a:r>
                <a:rPr lang="en-US" altLang="zh-CN" sz="1700" dirty="0">
                  <a:solidFill>
                    <a:schemeClr val="tx1"/>
                  </a:solidFill>
                  <a:latin typeface="Palatino Linotype" panose="02040502050505030304" charset="0"/>
                  <a:cs typeface="Palatino Linotype" panose="02040502050505030304" charset="0"/>
                  <a:sym typeface="+mn-ea"/>
                </a:rPr>
                <a:t>exe</a:t>
              </a:r>
              <a:r>
                <a:rPr lang="zh-CN" altLang="en-US" sz="1700" dirty="0">
                  <a:solidFill>
                    <a:schemeClr val="tx1"/>
                  </a:solidFill>
                  <a:latin typeface="Palatino Linotype" panose="02040502050505030304" charset="0"/>
                  <a:cs typeface="Palatino Linotype" panose="02040502050505030304" charset="0"/>
                  <a:sym typeface="+mn-ea"/>
                </a:rPr>
                <a:t>文件的指针，指向文件头。目前自己的了解就是每个</a:t>
              </a:r>
              <a:r>
                <a:rPr lang="en-US" altLang="zh-CN" sz="1700" dirty="0">
                  <a:solidFill>
                    <a:schemeClr val="tx1"/>
                  </a:solidFill>
                  <a:latin typeface="Palatino Linotype" panose="02040502050505030304" charset="0"/>
                  <a:cs typeface="Palatino Linotype" panose="02040502050505030304" charset="0"/>
                  <a:sym typeface="+mn-ea"/>
                </a:rPr>
                <a:t>PE</a:t>
              </a:r>
              <a:r>
                <a:rPr lang="zh-CN" altLang="en-US" sz="1700" dirty="0">
                  <a:solidFill>
                    <a:schemeClr val="tx1"/>
                  </a:solidFill>
                  <a:latin typeface="Palatino Linotype" panose="02040502050505030304" charset="0"/>
                  <a:cs typeface="Palatino Linotype" panose="02040502050505030304" charset="0"/>
                  <a:sym typeface="+mn-ea"/>
                </a:rPr>
                <a:t>文件在运行时会被放到电脑的虚拟内存里面，分配空间和地址。我定义一个指针指向某个表的头部，然后就可以对这个表进行一些操作了。但是这部分的学习是在看那部分</a:t>
              </a:r>
              <a:r>
                <a:rPr lang="en-US" altLang="zh-CN" sz="1700" dirty="0">
                  <a:solidFill>
                    <a:schemeClr val="tx1"/>
                  </a:solidFill>
                  <a:latin typeface="Palatino Linotype" panose="02040502050505030304" charset="0"/>
                  <a:cs typeface="Palatino Linotype" panose="02040502050505030304" charset="0"/>
                  <a:sym typeface="+mn-ea"/>
                </a:rPr>
                <a:t>blog</a:t>
              </a:r>
              <a:r>
                <a:rPr lang="zh-CN" altLang="en-US" sz="1700" dirty="0">
                  <a:solidFill>
                    <a:schemeClr val="tx1"/>
                  </a:solidFill>
                  <a:latin typeface="Palatino Linotype" panose="02040502050505030304" charset="0"/>
                  <a:cs typeface="Palatino Linotype" panose="02040502050505030304" charset="0"/>
                  <a:sym typeface="+mn-ea"/>
                </a:rPr>
                <a:t>之前，理解上会有一些不全面甚至</a:t>
              </a:r>
              <a:r>
                <a:rPr lang="zh-CN" altLang="en-US" sz="1700" dirty="0">
                  <a:solidFill>
                    <a:schemeClr val="tx1"/>
                  </a:solidFill>
                  <a:latin typeface="Palatino Linotype" panose="02040502050505030304" charset="0"/>
                  <a:cs typeface="Palatino Linotype" panose="02040502050505030304" charset="0"/>
                  <a:sym typeface="+mn-ea"/>
                </a:rPr>
                <a:t>错误。</a:t>
              </a: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4" name="图片 3"/>
          <p:cNvPicPr>
            <a:picLocks noChangeAspect="1"/>
          </p:cNvPicPr>
          <p:nvPr>
            <p:custDataLst>
              <p:tags r:id="rId4"/>
            </p:custDataLst>
          </p:nvPr>
        </p:nvPicPr>
        <p:blipFill>
          <a:blip r:embed="rId5"/>
          <a:stretch>
            <a:fillRect/>
          </a:stretch>
        </p:blipFill>
        <p:spPr>
          <a:xfrm>
            <a:off x="6148070" y="325755"/>
            <a:ext cx="4826000" cy="271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98015"/>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1</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want to get a tool that can analyse a PE file in hex.</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get the file called “PE-bear” in github and open a PE file by  it.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4" name="图片 3"/>
          <p:cNvPicPr>
            <a:picLocks noChangeAspect="1"/>
          </p:cNvPicPr>
          <p:nvPr>
            <p:custDataLst>
              <p:tags r:id="rId4"/>
            </p:custDataLst>
          </p:nvPr>
        </p:nvPicPr>
        <p:blipFill>
          <a:blip r:embed="rId5"/>
          <a:stretch>
            <a:fillRect/>
          </a:stretch>
        </p:blipFill>
        <p:spPr>
          <a:xfrm>
            <a:off x="3647440" y="3001645"/>
            <a:ext cx="8345170" cy="3111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2</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9690" cy="3392170"/>
            <a:chOff x="839" y="1816"/>
            <a:chExt cx="8094" cy="5342"/>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61"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2</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50" y="2323"/>
              <a:ext cx="8083" cy="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Why the data “buffer” is defined as a char pointer.In C language the char is just a byte,two hexadecimal numbers.why read the file by one byte and one byte?</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By the PE-bear,look at the figure.The ‘0E’ occupies two hexadecimal numbers,a byte.Maybe it is the reason?</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zh-CN" altLang="en-US" sz="1700" dirty="0">
                  <a:solidFill>
                    <a:schemeClr val="tx1"/>
                  </a:solidFill>
                  <a:latin typeface="Palatino Linotype" panose="02040502050505030304" charset="0"/>
                  <a:cs typeface="Palatino Linotype" panose="02040502050505030304" charset="0"/>
                  <a:sym typeface="+mn-ea"/>
                </a:rPr>
                <a:t>意思就是由</a:t>
              </a:r>
              <a:r>
                <a:rPr lang="en-US" altLang="zh-CN" sz="1700" dirty="0">
                  <a:solidFill>
                    <a:schemeClr val="tx1"/>
                  </a:solidFill>
                  <a:latin typeface="Palatino Linotype" panose="02040502050505030304" charset="0"/>
                  <a:cs typeface="Palatino Linotype" panose="02040502050505030304" charset="0"/>
                  <a:sym typeface="+mn-ea"/>
                </a:rPr>
                <a:t>PE-bear</a:t>
              </a:r>
              <a:r>
                <a:rPr lang="zh-CN" altLang="en-US" sz="1700" dirty="0">
                  <a:solidFill>
                    <a:schemeClr val="tx1"/>
                  </a:solidFill>
                  <a:latin typeface="Palatino Linotype" panose="02040502050505030304" charset="0"/>
                  <a:cs typeface="Palatino Linotype" panose="02040502050505030304" charset="0"/>
                  <a:sym typeface="+mn-ea"/>
                </a:rPr>
                <a:t>解析后，发现这个编码方式每一</a:t>
              </a:r>
              <a:r>
                <a:rPr lang="zh-CN" altLang="en-US" sz="1700" dirty="0">
                  <a:solidFill>
                    <a:schemeClr val="tx1"/>
                  </a:solidFill>
                  <a:latin typeface="Palatino Linotype" panose="02040502050505030304" charset="0"/>
                  <a:cs typeface="Palatino Linotype" panose="02040502050505030304" charset="0"/>
                  <a:sym typeface="+mn-ea"/>
                </a:rPr>
                <a:t>小段都是一个字节，用</a:t>
              </a:r>
              <a:r>
                <a:rPr lang="en-US" altLang="zh-CN" sz="1700" dirty="0">
                  <a:solidFill>
                    <a:schemeClr val="tx1"/>
                  </a:solidFill>
                  <a:latin typeface="Palatino Linotype" panose="02040502050505030304" charset="0"/>
                  <a:cs typeface="Palatino Linotype" panose="02040502050505030304" charset="0"/>
                  <a:sym typeface="+mn-ea"/>
                </a:rPr>
                <a:t>char</a:t>
              </a:r>
              <a:r>
                <a:rPr lang="zh-CN" altLang="en-US" sz="1700" dirty="0">
                  <a:solidFill>
                    <a:schemeClr val="tx1"/>
                  </a:solidFill>
                  <a:latin typeface="Palatino Linotype" panose="02040502050505030304" charset="0"/>
                  <a:cs typeface="Palatino Linotype" panose="02040502050505030304" charset="0"/>
                  <a:sym typeface="+mn-ea"/>
                </a:rPr>
                <a:t>类型的指针来读取这个文件正好。</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3" name="图片 2"/>
          <p:cNvPicPr>
            <a:picLocks noChangeAspect="1"/>
          </p:cNvPicPr>
          <p:nvPr>
            <p:custDataLst>
              <p:tags r:id="rId4"/>
            </p:custDataLst>
          </p:nvPr>
        </p:nvPicPr>
        <p:blipFill>
          <a:blip r:embed="rId5"/>
          <a:stretch>
            <a:fillRect/>
          </a:stretch>
        </p:blipFill>
        <p:spPr>
          <a:xfrm>
            <a:off x="5749290" y="1153160"/>
            <a:ext cx="5685155" cy="3833495"/>
          </a:xfrm>
          <a:prstGeom prst="rect">
            <a:avLst/>
          </a:prstGeom>
        </p:spPr>
      </p:pic>
      <p:pic>
        <p:nvPicPr>
          <p:cNvPr id="4" name="图片 3"/>
          <p:cNvPicPr>
            <a:picLocks noChangeAspect="1"/>
          </p:cNvPicPr>
          <p:nvPr>
            <p:custDataLst>
              <p:tags r:id="rId6"/>
            </p:custDataLst>
          </p:nvPr>
        </p:nvPicPr>
        <p:blipFill>
          <a:blip r:embed="rId7"/>
          <a:stretch>
            <a:fillRect/>
          </a:stretch>
        </p:blipFill>
        <p:spPr>
          <a:xfrm>
            <a:off x="681990" y="4681220"/>
            <a:ext cx="2698750" cy="679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3</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9690" cy="4773930"/>
            <a:chOff x="839" y="1816"/>
            <a:chExt cx="8094" cy="7518"/>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3</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50" y="2323"/>
              <a:ext cx="8083" cy="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Does Windows include the DOS?Does the Windows still use DOS?I think that the DOS is still used to operate the disk,right?Otherwise how does the OS loader identify the DOS Header.The DOS Header is like a </a:t>
              </a:r>
              <a:r>
                <a:rPr lang="en-US" altLang="zh-CN" sz="1700" dirty="0">
                  <a:solidFill>
                    <a:schemeClr val="tx1"/>
                  </a:solidFill>
                  <a:latin typeface="Palatino Linotype" panose="02040502050505030304" charset="0"/>
                  <a:cs typeface="Palatino Linotype" panose="02040502050505030304" charset="0"/>
                  <a:sym typeface="+mn-ea"/>
                </a:rPr>
                <a:t>sign to tell the OS loader  that the file is a PE file that is executable in MS-DOS,right?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The DOS Header and DOS Stub is just a program  used to stop the file running when the PE file is run in the MS-DOS ?</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know it from the last figure!!If the PE file is running in MS-DOS the loader will run the program that print “......”,else the loader parse the  PE Header.</a:t>
              </a: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4" name="图片 3"/>
          <p:cNvPicPr>
            <a:picLocks noChangeAspect="1"/>
          </p:cNvPicPr>
          <p:nvPr>
            <p:custDataLst>
              <p:tags r:id="rId4"/>
            </p:custDataLst>
          </p:nvPr>
        </p:nvPicPr>
        <p:blipFill>
          <a:blip r:embed="rId5"/>
          <a:stretch>
            <a:fillRect/>
          </a:stretch>
        </p:blipFill>
        <p:spPr>
          <a:xfrm>
            <a:off x="5766435" y="677545"/>
            <a:ext cx="5202555" cy="43770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4</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9690" cy="2749550"/>
            <a:chOff x="839" y="1816"/>
            <a:chExt cx="8094" cy="4330"/>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4</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50" y="2323"/>
              <a:ext cx="8083" cy="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try to know what is DOS stub?It says the DOS stub is a DOS section and a EXE ?I wonder that a exe  includes the whole PE structure,right?I means a EXE  includes the DOS </a:t>
              </a:r>
              <a:r>
                <a:rPr lang="en-US" altLang="zh-CN" sz="1700" dirty="0">
                  <a:solidFill>
                    <a:schemeClr val="tx1"/>
                  </a:solidFill>
                  <a:latin typeface="Palatino Linotype" panose="02040502050505030304" charset="0"/>
                  <a:cs typeface="Palatino Linotype" panose="02040502050505030304" charset="0"/>
                  <a:sym typeface="+mn-ea"/>
                </a:rPr>
                <a:t>Header,DOS Stub,NT Headers,Section Table.But it says the DOS Stub is a EXE,why?</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have some problem reading the assemble language writen in your blog.</a:t>
              </a: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3" name="图片 1"/>
          <p:cNvPicPr>
            <a:picLocks noChangeAspect="1"/>
          </p:cNvPicPr>
          <p:nvPr>
            <p:custDataLst>
              <p:tags r:id="rId4"/>
            </p:custDataLst>
          </p:nvPr>
        </p:nvPicPr>
        <p:blipFill>
          <a:blip r:embed="rId5"/>
          <a:stretch>
            <a:fillRect/>
          </a:stretch>
        </p:blipFill>
        <p:spPr>
          <a:xfrm>
            <a:off x="6161723" y="1223963"/>
            <a:ext cx="5272405" cy="1825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Questions</a:t>
            </a:r>
            <a:endParaRPr lang="en-US"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9690" cy="3371215"/>
            <a:chOff x="839" y="1816"/>
            <a:chExt cx="8094" cy="530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Questions</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850" y="2323"/>
              <a:ext cx="8083" cy="4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know that the .text,.rdata......is the image section header but i have a silly question why they are called image section header,and if i can called them section header?The ‘image’ means what?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Why the value is ‘5A4D’ not ‘4D5A’?</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You disassemble the DOS Stub and analyse it but i don’t understand these three lines.Expecially the last two line,you wirite ‘invokes interrupt 21h’,but i know little about how to invoke interrupt by just a line of code.</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zh-CN" altLang="en-US" sz="1700" dirty="0">
                  <a:solidFill>
                    <a:schemeClr val="tx1"/>
                  </a:solidFill>
                  <a:latin typeface="Palatino Linotype" panose="02040502050505030304" charset="0"/>
                  <a:cs typeface="Palatino Linotype" panose="02040502050505030304" charset="0"/>
                  <a:sym typeface="+mn-ea"/>
                </a:rPr>
                <a:t>（</a:t>
              </a:r>
              <a:r>
                <a:rPr lang="zh-CN" altLang="en-US" sz="1700" dirty="0">
                  <a:solidFill>
                    <a:schemeClr val="tx1"/>
                  </a:solidFill>
                  <a:latin typeface="Palatino Linotype" panose="02040502050505030304" charset="0"/>
                  <a:cs typeface="Palatino Linotype" panose="02040502050505030304" charset="0"/>
                  <a:sym typeface="+mn-ea"/>
                </a:rPr>
                <a:t>大致意思：如何调用的这个接口，为什么调用后就能打印出一个</a:t>
              </a:r>
              <a:r>
                <a:rPr lang="en-US" altLang="zh-CN" sz="1700" dirty="0">
                  <a:solidFill>
                    <a:schemeClr val="tx1"/>
                  </a:solidFill>
                  <a:latin typeface="Palatino Linotype" panose="02040502050505030304" charset="0"/>
                  <a:cs typeface="Palatino Linotype" panose="02040502050505030304" charset="0"/>
                  <a:sym typeface="+mn-ea"/>
                </a:rPr>
                <a:t>string</a:t>
              </a:r>
              <a:r>
                <a:rPr lang="zh-CN" altLang="en-US" sz="1700" dirty="0">
                  <a:solidFill>
                    <a:schemeClr val="tx1"/>
                  </a:solidFill>
                  <a:latin typeface="Palatino Linotype" panose="02040502050505030304" charset="0"/>
                  <a:cs typeface="Palatino Linotype" panose="02040502050505030304" charset="0"/>
                  <a:sym typeface="+mn-ea"/>
                </a:rPr>
                <a: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pic>
        <p:nvPicPr>
          <p:cNvPr id="4" name="图片 3"/>
          <p:cNvPicPr>
            <a:picLocks noChangeAspect="1"/>
          </p:cNvPicPr>
          <p:nvPr>
            <p:custDataLst>
              <p:tags r:id="rId4"/>
            </p:custDataLst>
          </p:nvPr>
        </p:nvPicPr>
        <p:blipFill>
          <a:blip r:embed="rId5"/>
          <a:stretch>
            <a:fillRect/>
          </a:stretch>
        </p:blipFill>
        <p:spPr>
          <a:xfrm>
            <a:off x="6917055" y="531495"/>
            <a:ext cx="1352550" cy="2006600"/>
          </a:xfrm>
          <a:prstGeom prst="rect">
            <a:avLst/>
          </a:prstGeom>
        </p:spPr>
      </p:pic>
      <p:pic>
        <p:nvPicPr>
          <p:cNvPr id="3" name="图片 2"/>
          <p:cNvPicPr>
            <a:picLocks noChangeAspect="1"/>
          </p:cNvPicPr>
          <p:nvPr>
            <p:custDataLst>
              <p:tags r:id="rId6"/>
            </p:custDataLst>
          </p:nvPr>
        </p:nvPicPr>
        <p:blipFill>
          <a:blip r:embed="rId7"/>
          <a:stretch>
            <a:fillRect/>
          </a:stretch>
        </p:blipFill>
        <p:spPr>
          <a:xfrm>
            <a:off x="5621020" y="2706370"/>
            <a:ext cx="4896485" cy="355600"/>
          </a:xfrm>
          <a:prstGeom prst="rect">
            <a:avLst/>
          </a:prstGeom>
        </p:spPr>
      </p:pic>
      <p:pic>
        <p:nvPicPr>
          <p:cNvPr id="5" name="图片 4"/>
          <p:cNvPicPr>
            <a:picLocks noChangeAspect="1"/>
          </p:cNvPicPr>
          <p:nvPr>
            <p:custDataLst>
              <p:tags r:id="rId8"/>
            </p:custDataLst>
          </p:nvPr>
        </p:nvPicPr>
        <p:blipFill>
          <a:blip r:embed="rId9"/>
          <a:stretch>
            <a:fillRect/>
          </a:stretch>
        </p:blipFill>
        <p:spPr>
          <a:xfrm>
            <a:off x="5970905" y="3061970"/>
            <a:ext cx="1244600" cy="457200"/>
          </a:xfrm>
          <a:prstGeom prst="rect">
            <a:avLst/>
          </a:prstGeom>
        </p:spPr>
      </p:pic>
      <p:pic>
        <p:nvPicPr>
          <p:cNvPr id="6" name="图片 5"/>
          <p:cNvPicPr>
            <a:picLocks noChangeAspect="1"/>
          </p:cNvPicPr>
          <p:nvPr>
            <p:custDataLst>
              <p:tags r:id="rId10"/>
            </p:custDataLst>
          </p:nvPr>
        </p:nvPicPr>
        <p:blipFill>
          <a:blip r:embed="rId11"/>
          <a:stretch>
            <a:fillRect/>
          </a:stretch>
        </p:blipFill>
        <p:spPr>
          <a:xfrm>
            <a:off x="654050" y="4880610"/>
            <a:ext cx="8191500" cy="1181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Questions</a:t>
            </a:r>
            <a:endParaRPr lang="en-US"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3420745"/>
            <a:chOff x="769" y="1816"/>
            <a:chExt cx="8083" cy="538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Questions</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769" y="2401"/>
              <a:ext cx="8083" cy="4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Why the PE format is used widely?Does it have some special features?Such as it is more efficient?</a:t>
              </a:r>
              <a:endParaRPr lang="en-US" altLang="zh-CN" sz="1700" dirty="0">
                <a:solidFill>
                  <a:schemeClr val="tx1"/>
                </a:solidFill>
                <a:latin typeface="Palatino Linotype" panose="02040502050505030304" charset="0"/>
                <a:cs typeface="Palatino Linotype" panose="02040502050505030304" charset="0"/>
                <a:sym typeface="+mn-ea"/>
              </a:endParaRPr>
            </a:p>
            <a:p>
              <a:pPr indent="0">
                <a:buClr>
                  <a:srgbClr val="00B0F0"/>
                </a:buClr>
                <a:buFont typeface="Wingdings" panose="05000000000000000000" charset="0"/>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342265" y="1153160"/>
            <a:ext cx="5278755" cy="1934845"/>
            <a:chOff x="539" y="1816"/>
            <a:chExt cx="8313" cy="304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 1</a:t>
              </a:r>
              <a:endParaRPr lang="en-US" altLang="zh-CN" b="1" dirty="0">
                <a:solidFill>
                  <a:srgbClr val="00B0F0"/>
                </a:solidFill>
                <a:latin typeface="Palatino Linotype" panose="02040502050505030304" charset="0"/>
                <a:ea typeface="+mn-ea"/>
                <a:cs typeface="Palatino Linotype" panose="02040502050505030304" charset="0"/>
              </a:endParaRPr>
            </a:p>
          </p:txBody>
        </p:sp>
        <p:sp>
          <p:nvSpPr>
            <p:cNvPr id="238" name="文本框 237"/>
            <p:cNvSpPr txBox="1"/>
            <p:nvPr>
              <p:custDataLst>
                <p:tags r:id="rId3"/>
              </p:custDataLst>
            </p:nvPr>
          </p:nvSpPr>
          <p:spPr>
            <a:xfrm>
              <a:off x="539" y="2181"/>
              <a:ext cx="8083" cy="2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sz="1700" dirty="0">
                  <a:solidFill>
                    <a:schemeClr val="tx1"/>
                  </a:solidFill>
                  <a:latin typeface="Palatino Linotype" panose="02040502050505030304" charset="0"/>
                  <a:cs typeface="Palatino Linotype" panose="02040502050505030304" charset="0"/>
                  <a:sym typeface="+mn-ea"/>
                </a:rPr>
                <a:t>write a blog about learning PE in csdn.</a:t>
              </a:r>
              <a:endParaRPr lang="en-US"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sz="1700" dirty="0">
                  <a:solidFill>
                    <a:schemeClr val="tx1"/>
                  </a:solidFill>
                  <a:latin typeface="Palatino Linotype" panose="02040502050505030304" charset="0"/>
                  <a:cs typeface="Palatino Linotype" panose="02040502050505030304" charset="0"/>
                  <a:sym typeface="+mn-ea"/>
                </a:rPr>
                <a:t>Successfully download the IDA and know how to use it.</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Finish the study of the PE format next week.</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endParaRPr lang="en-US" altLang="zh-CN" sz="1600">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3.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4.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5.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6.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1.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2.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3.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6.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7.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0.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1.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5.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6.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9.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30.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3.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34.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40.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1.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42.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43.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4.xml><?xml version="1.0" encoding="utf-8"?>
<p:tagLst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45.xml><?xml version="1.0" encoding="utf-8"?>
<p:tagLst xmlns:p="http://schemas.openxmlformats.org/presentationml/2006/main">
  <p:tag name="COMMONDATA" val="eyJoZGlkIjoiMWViYjA4YjczODZkNzY4ZmRmNjg2ZmVlYjE2OGMwNTAifQ=="/>
  <p:tag name="KSO_WPP_MARK_KEY" val="e6c85fa1-cd61-4d87-b6eb-0c65704176e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3633</Words>
  <Application>WPS 演示</Application>
  <PresentationFormat>Widescreen</PresentationFormat>
  <Paragraphs>110</Paragraphs>
  <Slides>11</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宋体</vt:lpstr>
      <vt:lpstr>Wingdings</vt:lpstr>
      <vt:lpstr>阿里巴巴普惠体 R</vt:lpstr>
      <vt:lpstr>微软雅黑</vt:lpstr>
      <vt:lpstr>Palatino Linotype</vt:lpstr>
      <vt:lpstr>Wingdings</vt:lpstr>
      <vt:lpstr>Calibri</vt:lpstr>
      <vt:lpstr>等线</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Zhong, Fangtian</dc:creator>
  <cp:lastModifiedBy>WPS_1662446722</cp:lastModifiedBy>
  <cp:revision>19</cp:revision>
  <dcterms:created xsi:type="dcterms:W3CDTF">2022-09-21T15:51:00Z</dcterms:created>
  <dcterms:modified xsi:type="dcterms:W3CDTF">2023-05-16T11:18:18Z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CC2C0F941B7A40BB95BC861408F20AFB_12</vt:lpwstr>
  </property>
  <property fmtid="{D5CDD505-2E9C-101B-9397-08002B2CF9AE}" pid="3" name="KSOProductBuildVer">
    <vt:lpwstr>2052-11.1.0.14309</vt:lpwstr>
  </property>
</Properties>
</file>