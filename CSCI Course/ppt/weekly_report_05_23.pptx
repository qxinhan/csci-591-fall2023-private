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comments/comment1.xml" ContentType="application/vnd.openxmlformats-officedocument.presentationml.comment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5.xml" ContentType="application/vnd.openxmlformats-officedocument.presentationml.notesSlide+xml"/>
  <Override PartName="/ppt/comments/comment2.xml" ContentType="application/vnd.openxmlformats-officedocument.presentationml.comment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6.xml" ContentType="application/vnd.openxmlformats-officedocument.presentationml.notesSlide+xml"/>
  <Override PartName="/ppt/comments/comment3.xml" ContentType="application/vnd.openxmlformats-officedocument.presentationml.comment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sldIdLst>
    <p:sldId id="423" r:id="rId2"/>
    <p:sldId id="424" r:id="rId3"/>
    <p:sldId id="428" r:id="rId4"/>
    <p:sldId id="425" r:id="rId5"/>
    <p:sldId id="430" r:id="rId6"/>
    <p:sldId id="429" r:id="rId7"/>
    <p:sldId id="427" r:id="rId8"/>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faultuser0" initials="d" lastIdx="5"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7"/>
    <p:restoredTop sz="96322"/>
  </p:normalViewPr>
  <p:slideViewPr>
    <p:cSldViewPr snapToGrid="0">
      <p:cViewPr varScale="1">
        <p:scale>
          <a:sx n="61" d="100"/>
          <a:sy n="61" d="100"/>
        </p:scale>
        <p:origin x="7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6-01T23:26:19.587" idx="2">
    <p:pos x="7078" y="339"/>
    <p:text>This data structure is architecture-dependent, only used by x86 architure. Intel has many different architectures, including x86, x64, 386, etc. Most Windows computers nowadays use x64.</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3-06-01T23:29:25.536" idx="4">
    <p:pos x="6946" y="348"/>
    <p:text>Using macro is more readable for developers. The constant indicates the size of section header. You can calculate yourself by adding the sizes for all fields. Go to the link https://learn.microsoft.com/en-us/windows/win32/api/winnt/ns-winnt-image_section_header</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3-06-01T23:43:20.753" idx="5">
    <p:pos x="7424" y="385"/>
    <p:text>DOS stub laid between DOS HEADER and Rich Header. That is from 0x40 to 0x7F. Rich Header follows DOS stub. If you want to calculate the size of Rich header, you can have the beginning address of NT Header substracted the beginning address of Rich Header (0x80). You can refer to my slides for more details.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A6D457-D595-D74A-B943-9BE89BF18156}" type="datetimeFigureOut">
              <a:rPr lang="en-US" smtClean="0"/>
              <a:t>6/5/2023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A9FDB8-D5FC-364C-AEB4-B7B4513895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3020B4-C4F0-47FB-9EF6-DA1D8CA35CE4}"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9974146-AD47-D54A-ADAE-EACD76BE342A}"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74146-AD47-D54A-ADAE-EACD76BE342A}"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974146-AD47-D54A-ADAE-EACD76BE342A}"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974146-AD47-D54A-ADAE-EACD76BE342A}" type="datetimeFigureOut">
              <a:rPr lang="en-US" smtClean="0"/>
              <a:t>6/5/2023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974146-AD47-D54A-ADAE-EACD76BE342A}" type="datetimeFigureOut">
              <a:rPr lang="en-US" smtClean="0"/>
              <a:t>6/5/2023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74146-AD47-D54A-ADAE-EACD76BE342A}" type="datetimeFigureOut">
              <a:rPr lang="en-US" smtClean="0"/>
              <a:t>6/5/2023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74146-AD47-D54A-ADAE-EACD76BE342A}" type="datetimeFigureOut">
              <a:rPr lang="en-US" smtClean="0"/>
              <a:t>6/5/2023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974146-AD47-D54A-ADAE-EACD76BE342A}" type="datetimeFigureOut">
              <a:rPr lang="en-US" smtClean="0"/>
              <a:t>6/5/2023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2251F9-74DE-384F-8BBE-4068C9F0724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grpSp>
        <p:nvGrpSpPr>
          <p:cNvPr id="5" name="组合 4"/>
          <p:cNvGrpSpPr/>
          <p:nvPr userDrawn="1"/>
        </p:nvGrpSpPr>
        <p:grpSpPr>
          <a:xfrm flipV="1">
            <a:off x="0" y="6487888"/>
            <a:ext cx="12192000" cy="370112"/>
            <a:chOff x="0" y="-40730"/>
            <a:chExt cx="12192000" cy="370112"/>
          </a:xfrm>
        </p:grpSpPr>
        <p:sp>
          <p:nvSpPr>
            <p:cNvPr id="6" name="矩形 5"/>
            <p:cNvSpPr/>
            <p:nvPr userDrawn="1"/>
          </p:nvSpPr>
          <p:spPr>
            <a:xfrm>
              <a:off x="0" y="-40730"/>
              <a:ext cx="12192000" cy="370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7" name="矩形 6"/>
            <p:cNvSpPr/>
            <p:nvPr userDrawn="1"/>
          </p:nvSpPr>
          <p:spPr>
            <a:xfrm>
              <a:off x="0" y="-40730"/>
              <a:ext cx="12192000" cy="285614"/>
            </a:xfrm>
            <a:prstGeom prst="rect">
              <a:avLst/>
            </a:prstGeom>
            <a:solidFill>
              <a:srgbClr val="005C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grpSp>
      <p:sp>
        <p:nvSpPr>
          <p:cNvPr id="96" name="菱形 95"/>
          <p:cNvSpPr/>
          <p:nvPr userDrawn="1"/>
        </p:nvSpPr>
        <p:spPr>
          <a:xfrm>
            <a:off x="600451" y="370197"/>
            <a:ext cx="372167" cy="372166"/>
          </a:xfrm>
          <a:prstGeom prst="diamond">
            <a:avLst/>
          </a:prstGeom>
          <a:solidFill>
            <a:schemeClr val="bg1">
              <a:lumMod val="85000"/>
            </a:schemeClr>
          </a:solidFill>
          <a:ln w="19050">
            <a:solidFill>
              <a:srgbClr val="005C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97" name="菱形 96"/>
          <p:cNvSpPr/>
          <p:nvPr userDrawn="1"/>
        </p:nvSpPr>
        <p:spPr>
          <a:xfrm>
            <a:off x="356797" y="312627"/>
            <a:ext cx="487308" cy="487307"/>
          </a:xfrm>
          <a:prstGeom prst="diamond">
            <a:avLst/>
          </a:prstGeom>
          <a:solidFill>
            <a:srgbClr val="005CA2"/>
          </a:solidFill>
          <a:ln>
            <a:solidFill>
              <a:srgbClr val="004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阿里巴巴普惠体 R" panose="00020600040101010101" pitchFamily="18" charset="-122"/>
            </a:endParaRPr>
          </a:p>
        </p:txBody>
      </p:sp>
      <p:sp>
        <p:nvSpPr>
          <p:cNvPr id="3" name="内容占位符 2"/>
          <p:cNvSpPr>
            <a:spLocks noGrp="1"/>
          </p:cNvSpPr>
          <p:nvPr>
            <p:ph sz="quarter" idx="10" hasCustomPrompt="1"/>
          </p:nvPr>
        </p:nvSpPr>
        <p:spPr>
          <a:xfrm>
            <a:off x="1078230" y="357505"/>
            <a:ext cx="5685155" cy="441960"/>
          </a:xfrm>
          <a:prstGeom prst="rect">
            <a:avLst/>
          </a:prstGeom>
        </p:spPr>
        <p:txBody>
          <a:bodyPr/>
          <a:lstStyle>
            <a:lvl1pPr marL="0" indent="0">
              <a:buNone/>
              <a:defRPr b="1">
                <a:solidFill>
                  <a:srgbClr val="005CA2"/>
                </a:solidFill>
                <a:latin typeface="Microsoft YaHei" panose="020B0503020204020204" charset="-122"/>
                <a:ea typeface="Microsoft YaHei" panose="020B0503020204020204" charset="-122"/>
              </a:defRPr>
            </a:lvl1pPr>
            <a:lvl2pPr marL="457200" indent="0">
              <a:buNone/>
              <a:defRPr b="1">
                <a:solidFill>
                  <a:schemeClr val="accent1"/>
                </a:solidFill>
                <a:latin typeface="+mj-ea"/>
                <a:ea typeface="+mj-ea"/>
              </a:defRPr>
            </a:lvl2pPr>
          </a:lstStyle>
          <a:p>
            <a:pPr lvl="0"/>
            <a:r>
              <a:rPr lang="zh-CN" altLang="en-US" dirty="0"/>
              <a:t>编辑母版文本样式</a:t>
            </a: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74146-AD47-D54A-ADAE-EACD76BE342A}" type="datetimeFigureOut">
              <a:rPr lang="en-US" smtClean="0"/>
              <a:t>6/5/2023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2251F9-74DE-384F-8BBE-4068C9F0724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notesSlide" Target="../notesSlides/notesSlide1.xml"/><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notesSlide" Target="../notesSlides/notesSlide2.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notesSlide" Target="../notesSlides/notesSlide3.xml"/><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comments" Target="../comments/comment1.xml"/><Relationship Id="rId3" Type="http://schemas.openxmlformats.org/officeDocument/2006/relationships/tags" Target="../tags/tag13.xml"/><Relationship Id="rId7" Type="http://schemas.openxmlformats.org/officeDocument/2006/relationships/image" Target="../media/image1.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14.xml"/></Relationships>
</file>

<file path=ppt/slides/_rels/slide5.xml.rels><?xml version="1.0" encoding="UTF-8" standalone="yes"?>
<Relationships xmlns="http://schemas.openxmlformats.org/package/2006/relationships"><Relationship Id="rId8" Type="http://schemas.openxmlformats.org/officeDocument/2006/relationships/comments" Target="../comments/comment2.xml"/><Relationship Id="rId3" Type="http://schemas.openxmlformats.org/officeDocument/2006/relationships/tags" Target="../tags/tag17.xml"/><Relationship Id="rId7" Type="http://schemas.openxmlformats.org/officeDocument/2006/relationships/image" Target="../media/image2.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tags" Target="../tags/tag18.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1.xml"/><Relationship Id="rId7" Type="http://schemas.openxmlformats.org/officeDocument/2006/relationships/notesSlide" Target="../notesSlides/notesSlide6.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12.xml"/><Relationship Id="rId5" Type="http://schemas.openxmlformats.org/officeDocument/2006/relationships/tags" Target="../tags/tag23.xml"/><Relationship Id="rId10" Type="http://schemas.openxmlformats.org/officeDocument/2006/relationships/comments" Target="../comments/comment3.xml"/><Relationship Id="rId4" Type="http://schemas.openxmlformats.org/officeDocument/2006/relationships/tags" Target="../tags/tag22.xml"/><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notesSlide" Target="../notesSlides/notesSlide7.xml"/><Relationship Id="rId4"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Planed</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38325"/>
            <a:chOff x="839" y="1816"/>
            <a:chExt cx="8083" cy="2895"/>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Planed 1</a:t>
              </a:r>
            </a:p>
          </p:txBody>
        </p:sp>
        <p:sp>
          <p:nvSpPr>
            <p:cNvPr id="238" name="文本框 237"/>
            <p:cNvSpPr txBox="1"/>
            <p:nvPr>
              <p:custDataLst>
                <p:tags r:id="rId3"/>
              </p:custDataLst>
            </p:nvPr>
          </p:nvSpPr>
          <p:spPr>
            <a:xfrm>
              <a:off x="839" y="2323"/>
              <a:ext cx="8083" cy="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Master the PE file format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Write  blog about the understanding of PE file format  </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2275840"/>
            <a:chOff x="839" y="1816"/>
            <a:chExt cx="8083" cy="3584"/>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1</a:t>
              </a:r>
            </a:p>
          </p:txBody>
        </p:sp>
        <p:sp>
          <p:nvSpPr>
            <p:cNvPr id="238" name="文本框 237"/>
            <p:cNvSpPr txBox="1"/>
            <p:nvPr>
              <p:custDataLst>
                <p:tags r:id="rId3"/>
              </p:custDataLst>
            </p:nvPr>
          </p:nvSpPr>
          <p:spPr>
            <a:xfrm>
              <a:off x="839" y="2401"/>
              <a:ext cx="8083" cy="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Have mastered the theory of PE file format.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Have written two blogs for PE .</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planed  to write a blog in GeeksforGeeks but it may not be same as CSDN when i tried to write.</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forget some of my questions,maybe i should write down questions immediately when it hits me. </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2</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Results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4225290"/>
            <a:chOff x="839" y="1816"/>
            <a:chExt cx="8083" cy="6654"/>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94"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Results 2</a:t>
              </a:r>
            </a:p>
          </p:txBody>
        </p:sp>
        <p:sp>
          <p:nvSpPr>
            <p:cNvPr id="238" name="文本框 237"/>
            <p:cNvSpPr txBox="1"/>
            <p:nvPr>
              <p:custDataLst>
                <p:tags r:id="rId3"/>
              </p:custDataLst>
            </p:nvPr>
          </p:nvSpPr>
          <p:spPr>
            <a:xfrm>
              <a:off x="839" y="2401"/>
              <a:ext cx="8083" cy="6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Now i am able to do a parser for DOS Header by myself,and maybe tomorrow i wiil have been able to finish a Rich Header parser.</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Now i am trying to finish the first and second laboratory.</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still have some questions of the details that i will ask in this ppt.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All in all it is not difficult for me to understand the code of parser and write the code of the parser by myself.It just takes time.</a:t>
              </a:r>
            </a:p>
            <a:p>
              <a:pPr marL="285750" indent="-285750">
                <a:buClr>
                  <a:srgbClr val="00B0F0"/>
                </a:buClr>
                <a:buFont typeface="Wingdings" panose="05000000000000000000" charset="0"/>
                <a:buChar char="u"/>
              </a:pPr>
              <a:endParaRPr lang="en-US" altLang="zh-CN"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98015"/>
            <a:chOff x="839" y="1816"/>
            <a:chExt cx="8083" cy="2989"/>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3"/>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1</a:t>
              </a:r>
            </a:p>
          </p:txBody>
        </p:sp>
        <p:sp>
          <p:nvSpPr>
            <p:cNvPr id="238" name="文本框 237"/>
            <p:cNvSpPr txBox="1"/>
            <p:nvPr>
              <p:custDataLst>
                <p:tags r:id="rId4"/>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What is the IMAGE_DIRECTORY_ENTRY_COPYRIGHT ?why is it commented?What does it mean?What is the function of it?</a:t>
              </a:r>
            </a:p>
            <a:p>
              <a:pPr marL="285750" indent="-285750">
                <a:buClr>
                  <a:srgbClr val="00B0F0"/>
                </a:buClr>
                <a:buFont typeface="Wingdings" panose="05000000000000000000" charset="0"/>
                <a:buChar char="u"/>
              </a:pPr>
              <a:endParaRPr lang="zh-CN" altLang="en-US" sz="1700" dirty="0">
                <a:solidFill>
                  <a:schemeClr val="tx1"/>
                </a:solidFill>
                <a:latin typeface="Palatino Linotype" panose="02040502050505030304" charset="0"/>
                <a:cs typeface="Palatino Linotype" panose="02040502050505030304" charset="0"/>
                <a:sym typeface="+mn-ea"/>
              </a:endParaRP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15" name="图片 1"/>
          <p:cNvPicPr>
            <a:picLocks noChangeAspect="1"/>
          </p:cNvPicPr>
          <p:nvPr>
            <p:custDataLst>
              <p:tags r:id="rId1"/>
            </p:custDataLst>
          </p:nvPr>
        </p:nvPicPr>
        <p:blipFill>
          <a:blip r:embed="rId7"/>
          <a:stretch>
            <a:fillRect/>
          </a:stretch>
        </p:blipFill>
        <p:spPr>
          <a:xfrm>
            <a:off x="1300480" y="3418205"/>
            <a:ext cx="7903845" cy="337820"/>
          </a:xfrm>
          <a:prstGeom prst="rect">
            <a:avLst/>
          </a:prstGeom>
          <a:noFill/>
          <a:ln>
            <a:noFill/>
          </a:ln>
        </p:spPr>
      </p:pic>
      <p:sp>
        <p:nvSpPr>
          <p:cNvPr id="3" name="Text Box 2"/>
          <p:cNvSpPr txBox="1"/>
          <p:nvPr/>
        </p:nvSpPr>
        <p:spPr>
          <a:xfrm>
            <a:off x="10909935" y="522605"/>
            <a:ext cx="309880" cy="368300"/>
          </a:xfrm>
          <a:prstGeom prst="rect">
            <a:avLst/>
          </a:prstGeom>
          <a:noFill/>
        </p:spPr>
        <p:txBody>
          <a:bodyPr wrap="none" rtlCol="0">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2 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026160"/>
            <a:ext cx="5132705" cy="2025015"/>
            <a:chOff x="839" y="1616"/>
            <a:chExt cx="8083" cy="3189"/>
          </a:xfrm>
        </p:grpSpPr>
        <p:sp>
          <p:nvSpPr>
            <p:cNvPr id="225" name="Line 24"/>
            <p:cNvSpPr>
              <a:spLocks noChangeShapeType="1"/>
            </p:cNvSpPr>
            <p:nvPr>
              <p:custDataLst>
                <p:tags r:id="rId2"/>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3"/>
              </p:custDataLst>
            </p:nvPr>
          </p:nvSpPr>
          <p:spPr>
            <a:xfrm>
              <a:off x="839" y="16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2</a:t>
              </a:r>
            </a:p>
          </p:txBody>
        </p:sp>
        <p:sp>
          <p:nvSpPr>
            <p:cNvPr id="238" name="文本框 237"/>
            <p:cNvSpPr txBox="1"/>
            <p:nvPr>
              <p:custDataLst>
                <p:tags r:id="rId4"/>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Why define the constant?I tried to find where the constant is used,but failed.By its name,i deduce that it is the size of section of the image file?</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3" name="图片 2"/>
          <p:cNvPicPr>
            <a:picLocks noChangeAspect="1"/>
          </p:cNvPicPr>
          <p:nvPr>
            <p:custDataLst>
              <p:tags r:id="rId1"/>
            </p:custDataLst>
          </p:nvPr>
        </p:nvPicPr>
        <p:blipFill>
          <a:blip r:embed="rId7"/>
          <a:stretch>
            <a:fillRect/>
          </a:stretch>
        </p:blipFill>
        <p:spPr>
          <a:xfrm>
            <a:off x="462280" y="3508375"/>
            <a:ext cx="7875905" cy="496570"/>
          </a:xfrm>
          <a:prstGeom prst="rect">
            <a:avLst/>
          </a:prstGeom>
          <a:noFill/>
          <a:ln>
            <a:noFill/>
          </a:ln>
        </p:spPr>
      </p:pic>
      <p:sp>
        <p:nvSpPr>
          <p:cNvPr id="4" name="Text Box 3"/>
          <p:cNvSpPr txBox="1"/>
          <p:nvPr/>
        </p:nvSpPr>
        <p:spPr>
          <a:xfrm>
            <a:off x="10923905" y="508000"/>
            <a:ext cx="309880" cy="368300"/>
          </a:xfrm>
          <a:prstGeom prst="rect">
            <a:avLst/>
          </a:prstGeom>
          <a:noFill/>
        </p:spPr>
        <p:txBody>
          <a:bodyPr wrap="none" rtlCol="0">
            <a:spAutoFit/>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4392295" y="5176520"/>
            <a:ext cx="1105535" cy="2838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973454" y="97155"/>
            <a:ext cx="6121029" cy="791210"/>
          </a:xfrm>
          <a:prstGeom prst="rect">
            <a:avLst/>
          </a:prstGeom>
          <a:noFill/>
        </p:spPr>
        <p:txBody>
          <a:bodyPr wrap="square" rtlCol="0">
            <a:spAutoFit/>
          </a:bodyPr>
          <a:lstStyle/>
          <a:p>
            <a:pPr algn="ctr">
              <a:lnSpc>
                <a:spcPct val="130000"/>
              </a:lnSpc>
              <a:spcBef>
                <a:spcPts val="600"/>
              </a:spcBef>
            </a:pPr>
            <a:r>
              <a:rPr lang="en-US" altLang="zh-CN" sz="3500" b="1" dirty="0">
                <a:solidFill>
                  <a:srgbClr val="005CA2"/>
                </a:solidFill>
                <a:latin typeface="Arial" panose="020B0604020202020204" pitchFamily="34" charset="0"/>
                <a:cs typeface="Arial" panose="020B0604020202020204" pitchFamily="34" charset="0"/>
                <a:sym typeface="+mn-lt"/>
              </a:rPr>
              <a:t>3</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Challenges</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and</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Solutions</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532765" y="1153160"/>
            <a:ext cx="5132705" cy="1898015"/>
            <a:chOff x="839" y="1816"/>
            <a:chExt cx="8083" cy="2989"/>
          </a:xfrm>
        </p:grpSpPr>
        <p:sp>
          <p:nvSpPr>
            <p:cNvPr id="225" name="Line 24"/>
            <p:cNvSpPr>
              <a:spLocks noChangeShapeType="1"/>
            </p:cNvSpPr>
            <p:nvPr>
              <p:custDataLst>
                <p:tags r:id="rId3"/>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4"/>
              </p:custDataLst>
            </p:nvPr>
          </p:nvSpPr>
          <p:spPr>
            <a:xfrm>
              <a:off x="839" y="1816"/>
              <a:ext cx="4904"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Challenges</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ea typeface="+mn-ea"/>
                  <a:cs typeface="Palatino Linotype" panose="02040502050505030304" charset="0"/>
                </a:rPr>
                <a:t>and</a:t>
              </a:r>
              <a:r>
                <a:rPr lang="zh-CN" altLang="en-US" b="1" dirty="0">
                  <a:solidFill>
                    <a:srgbClr val="00B0F0"/>
                  </a:solidFill>
                  <a:latin typeface="Palatino Linotype" panose="02040502050505030304" charset="0"/>
                  <a:ea typeface="+mn-ea"/>
                  <a:cs typeface="Palatino Linotype" panose="02040502050505030304" charset="0"/>
                </a:rPr>
                <a:t> </a:t>
              </a:r>
              <a:r>
                <a:rPr lang="en-US" altLang="zh-CN" b="1" dirty="0">
                  <a:solidFill>
                    <a:srgbClr val="00B0F0"/>
                  </a:solidFill>
                  <a:latin typeface="Palatino Linotype" panose="02040502050505030304" charset="0"/>
                  <a:cs typeface="Palatino Linotype" panose="02040502050505030304" charset="0"/>
                </a:rPr>
                <a:t>solutions</a:t>
              </a:r>
              <a:r>
                <a:rPr lang="en-US" altLang="zh-CN" b="1" dirty="0">
                  <a:solidFill>
                    <a:srgbClr val="00B0F0"/>
                  </a:solidFill>
                  <a:latin typeface="Palatino Linotype" panose="02040502050505030304" charset="0"/>
                  <a:ea typeface="+mn-ea"/>
                  <a:cs typeface="Palatino Linotype" panose="02040502050505030304" charset="0"/>
                </a:rPr>
                <a:t> 3</a:t>
              </a:r>
            </a:p>
          </p:txBody>
        </p:sp>
        <p:sp>
          <p:nvSpPr>
            <p:cNvPr id="238" name="文本框 237"/>
            <p:cNvSpPr txBox="1"/>
            <p:nvPr>
              <p:custDataLst>
                <p:tags r:id="rId5"/>
              </p:custDataLst>
            </p:nvPr>
          </p:nvSpPr>
          <p:spPr>
            <a:xfrm>
              <a:off x="839" y="2323"/>
              <a:ext cx="8083" cy="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In this code,the ‘index_’ is the index of the ‘R’,so the way to calculate the size of the Rich Header is not its real size,right?</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Please look at the screenshot,the blue part is the Rich Header but the size calculated is not the whole area.</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pic>
        <p:nvPicPr>
          <p:cNvPr id="3" name="图片 2"/>
          <p:cNvPicPr>
            <a:picLocks noChangeAspect="1"/>
          </p:cNvPicPr>
          <p:nvPr>
            <p:custDataLst>
              <p:tags r:id="rId1"/>
            </p:custDataLst>
          </p:nvPr>
        </p:nvPicPr>
        <p:blipFill>
          <a:blip r:embed="rId8"/>
          <a:stretch>
            <a:fillRect/>
          </a:stretch>
        </p:blipFill>
        <p:spPr>
          <a:xfrm>
            <a:off x="7416800" y="97155"/>
            <a:ext cx="3933190" cy="4645025"/>
          </a:xfrm>
          <a:prstGeom prst="rect">
            <a:avLst/>
          </a:prstGeom>
        </p:spPr>
      </p:pic>
      <p:pic>
        <p:nvPicPr>
          <p:cNvPr id="4" name="图片 3"/>
          <p:cNvPicPr>
            <a:picLocks noChangeAspect="1"/>
          </p:cNvPicPr>
          <p:nvPr>
            <p:custDataLst>
              <p:tags r:id="rId2"/>
            </p:custDataLst>
          </p:nvPr>
        </p:nvPicPr>
        <p:blipFill>
          <a:blip r:embed="rId9"/>
          <a:stretch>
            <a:fillRect/>
          </a:stretch>
        </p:blipFill>
        <p:spPr>
          <a:xfrm>
            <a:off x="1113790" y="3381375"/>
            <a:ext cx="5654040" cy="2799715"/>
          </a:xfrm>
          <a:prstGeom prst="rect">
            <a:avLst/>
          </a:prstGeom>
        </p:spPr>
      </p:pic>
      <p:cxnSp>
        <p:nvCxnSpPr>
          <p:cNvPr id="6" name="直接箭头连接符 5"/>
          <p:cNvCxnSpPr/>
          <p:nvPr/>
        </p:nvCxnSpPr>
        <p:spPr>
          <a:xfrm>
            <a:off x="3391535" y="5527040"/>
            <a:ext cx="5311140" cy="46355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8" name="文本框 7"/>
          <p:cNvSpPr txBox="1"/>
          <p:nvPr/>
        </p:nvSpPr>
        <p:spPr>
          <a:xfrm>
            <a:off x="8665210" y="5796280"/>
            <a:ext cx="3130550" cy="645160"/>
          </a:xfrm>
          <a:prstGeom prst="rect">
            <a:avLst/>
          </a:prstGeom>
          <a:noFill/>
        </p:spPr>
        <p:txBody>
          <a:bodyPr wrap="square" rtlCol="0">
            <a:spAutoFit/>
          </a:bodyPr>
          <a:lstStyle/>
          <a:p>
            <a:r>
              <a:rPr lang="en-US" altLang="zh-CN" dirty="0"/>
              <a:t>the index calculated is the 0xD9 index</a:t>
            </a:r>
          </a:p>
        </p:txBody>
      </p:sp>
      <p:sp>
        <p:nvSpPr>
          <p:cNvPr id="9" name="Text Box 8"/>
          <p:cNvSpPr txBox="1"/>
          <p:nvPr/>
        </p:nvSpPr>
        <p:spPr>
          <a:xfrm>
            <a:off x="11681460" y="566420"/>
            <a:ext cx="309880" cy="368300"/>
          </a:xfrm>
          <a:prstGeom prst="rect">
            <a:avLst/>
          </a:prstGeom>
          <a:noFill/>
        </p:spPr>
        <p:txBody>
          <a:bodyPr wrap="none" rtlCol="0">
            <a:spAutoFit/>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973455" y="97155"/>
            <a:ext cx="3154045" cy="719621"/>
          </a:xfrm>
          <a:prstGeom prst="rect">
            <a:avLst/>
          </a:prstGeom>
          <a:noFill/>
        </p:spPr>
        <p:txBody>
          <a:bodyPr wrap="square" rtlCol="0">
            <a:spAutoFit/>
          </a:bodyPr>
          <a:lstStyle/>
          <a:p>
            <a:pPr algn="ctr">
              <a:lnSpc>
                <a:spcPct val="130000"/>
              </a:lnSpc>
              <a:spcBef>
                <a:spcPts val="600"/>
              </a:spcBef>
            </a:pPr>
            <a:r>
              <a:rPr lang="en-US" sz="3500" b="1" dirty="0">
                <a:solidFill>
                  <a:srgbClr val="005CA2"/>
                </a:solidFill>
                <a:latin typeface="Arial" panose="020B0604020202020204" pitchFamily="34" charset="0"/>
                <a:cs typeface="Arial" panose="020B0604020202020204" pitchFamily="34" charset="0"/>
                <a:sym typeface="+mn-lt"/>
              </a:rPr>
              <a:t>1</a:t>
            </a:r>
            <a:r>
              <a:rPr lang="zh-CN" altLang="en-US" sz="3500" b="1" dirty="0">
                <a:solidFill>
                  <a:srgbClr val="005CA2"/>
                </a:solidFill>
                <a:latin typeface="Arial" panose="020B0604020202020204" pitchFamily="34" charset="0"/>
                <a:cs typeface="Arial" panose="020B0604020202020204" pitchFamily="34" charset="0"/>
                <a:sym typeface="+mn-lt"/>
              </a:rPr>
              <a:t> </a:t>
            </a:r>
            <a:r>
              <a:rPr lang="en-US" altLang="zh-CN" sz="3500" b="1" dirty="0">
                <a:solidFill>
                  <a:srgbClr val="005CA2"/>
                </a:solidFill>
                <a:latin typeface="Arial" panose="020B0604020202020204" pitchFamily="34" charset="0"/>
                <a:cs typeface="Arial" panose="020B0604020202020204" pitchFamily="34" charset="0"/>
                <a:sym typeface="+mn-lt"/>
              </a:rPr>
              <a:t>Plan</a:t>
            </a:r>
            <a:endParaRPr sz="3500" b="1" dirty="0">
              <a:solidFill>
                <a:srgbClr val="005CA2"/>
              </a:solidFill>
              <a:latin typeface="Arial" panose="020B0604020202020204" pitchFamily="34" charset="0"/>
              <a:cs typeface="Arial" panose="020B0604020202020204" pitchFamily="34" charset="0"/>
              <a:sym typeface="+mn-lt"/>
            </a:endParaRPr>
          </a:p>
        </p:txBody>
      </p:sp>
      <p:grpSp>
        <p:nvGrpSpPr>
          <p:cNvPr id="16" name="组合 15"/>
          <p:cNvGrpSpPr/>
          <p:nvPr/>
        </p:nvGrpSpPr>
        <p:grpSpPr>
          <a:xfrm>
            <a:off x="488315" y="1153160"/>
            <a:ext cx="5132705" cy="1636395"/>
            <a:chOff x="769" y="1816"/>
            <a:chExt cx="8083" cy="2577"/>
          </a:xfrm>
        </p:grpSpPr>
        <p:sp>
          <p:nvSpPr>
            <p:cNvPr id="225" name="Line 24"/>
            <p:cNvSpPr>
              <a:spLocks noChangeShapeType="1"/>
            </p:cNvSpPr>
            <p:nvPr>
              <p:custDataLst>
                <p:tags r:id="rId1"/>
              </p:custDataLst>
            </p:nvPr>
          </p:nvSpPr>
          <p:spPr bwMode="auto">
            <a:xfrm>
              <a:off x="839" y="3863"/>
              <a:ext cx="8013" cy="0"/>
            </a:xfrm>
            <a:prstGeom prst="line">
              <a:avLst/>
            </a:prstGeom>
            <a:noFill/>
            <a:ln w="6350">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wrap="square" lIns="90000" tIns="46800" rIns="90000" bIns="46800" anchor="ctr" anchorCtr="0">
              <a:normAutofit fontScale="25000" lnSpcReduction="20000"/>
            </a:bodyPr>
            <a:lstStyle/>
            <a:p>
              <a:endParaRPr lang="zh-CN" altLang="en-US" sz="1690">
                <a:solidFill>
                  <a:sysClr val="windowText" lastClr="000000">
                    <a:lumMod val="50000"/>
                    <a:lumOff val="50000"/>
                  </a:sysClr>
                </a:solidFill>
              </a:endParaRPr>
            </a:p>
          </p:txBody>
        </p:sp>
        <p:sp>
          <p:nvSpPr>
            <p:cNvPr id="226" name="文本框 225"/>
            <p:cNvSpPr txBox="1"/>
            <p:nvPr>
              <p:custDataLst>
                <p:tags r:id="rId2"/>
              </p:custDataLst>
            </p:nvPr>
          </p:nvSpPr>
          <p:spPr>
            <a:xfrm>
              <a:off x="839" y="1816"/>
              <a:ext cx="3147" cy="585"/>
            </a:xfrm>
            <a:prstGeom prst="rect">
              <a:avLst/>
            </a:prstGeom>
            <a:noFill/>
          </p:spPr>
          <p:txBody>
            <a:bodyPr wrap="square" lIns="90000" tIns="46800" rIns="90000" bIns="46800" rtlCol="0" anchor="ctr" anchorCtr="0"/>
            <a:lstStyle/>
            <a:p>
              <a:r>
                <a:rPr lang="en-US" altLang="zh-CN" b="1" dirty="0">
                  <a:solidFill>
                    <a:srgbClr val="00B0F0"/>
                  </a:solidFill>
                  <a:latin typeface="Palatino Linotype" panose="02040502050505030304" charset="0"/>
                  <a:ea typeface="+mn-ea"/>
                  <a:cs typeface="Palatino Linotype" panose="02040502050505030304" charset="0"/>
                </a:rPr>
                <a:t>plan 1</a:t>
              </a:r>
            </a:p>
          </p:txBody>
        </p:sp>
        <p:sp>
          <p:nvSpPr>
            <p:cNvPr id="238" name="文本框 237"/>
            <p:cNvSpPr txBox="1"/>
            <p:nvPr>
              <p:custDataLst>
                <p:tags r:id="rId3"/>
              </p:custDataLst>
            </p:nvPr>
          </p:nvSpPr>
          <p:spPr>
            <a:xfrm>
              <a:off x="769" y="2181"/>
              <a:ext cx="8083" cy="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ctr" anchorCtr="0">
              <a:noAutofit/>
            </a:bodyPr>
            <a:lstStyle>
              <a:defPPr>
                <a:defRPr lang="zh-CN"/>
              </a:defPPr>
              <a:lvl1pPr>
                <a:lnSpc>
                  <a:spcPct val="120000"/>
                </a:lnSpc>
                <a:buFont typeface="Arial" panose="020B0604020202020204" pitchFamily="34" charset="0"/>
                <a:buNone/>
                <a:defRPr sz="1800">
                  <a:solidFill>
                    <a:sysClr val="windowText" lastClr="000000">
                      <a:lumMod val="50000"/>
                      <a:lumOff val="50000"/>
                    </a:sysClr>
                  </a:solidFill>
                </a:defRPr>
              </a:lvl1pPr>
            </a:lstStyle>
            <a:p>
              <a:pPr marL="285750" indent="-285750">
                <a:buClr>
                  <a:srgbClr val="00B0F0"/>
                </a:buClr>
                <a:buFont typeface="Wingdings" panose="05000000000000000000" charset="0"/>
                <a:buChar char="u"/>
              </a:pPr>
              <a:r>
                <a:rPr lang="en-US" sz="1700" dirty="0">
                  <a:solidFill>
                    <a:schemeClr val="tx1"/>
                  </a:solidFill>
                  <a:latin typeface="Palatino Linotype" panose="02040502050505030304" charset="0"/>
                  <a:cs typeface="Palatino Linotype" panose="02040502050505030304" charset="0"/>
                  <a:sym typeface="+mn-ea"/>
                </a:rPr>
                <a:t>Master the code of the parser!</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Finish the first two laboratory by myself!</a:t>
              </a:r>
            </a:p>
            <a:p>
              <a:pPr marL="285750" indent="-285750">
                <a:buClr>
                  <a:srgbClr val="00B0F0"/>
                </a:buClr>
                <a:buFont typeface="Wingdings" panose="05000000000000000000" charset="0"/>
                <a:buChar char="u"/>
              </a:pPr>
              <a:r>
                <a:rPr lang="en-US" altLang="zh-CN" sz="1700" dirty="0">
                  <a:solidFill>
                    <a:schemeClr val="tx1"/>
                  </a:solidFill>
                  <a:latin typeface="Palatino Linotype" panose="02040502050505030304" charset="0"/>
                  <a:cs typeface="Palatino Linotype" panose="02040502050505030304" charset="0"/>
                  <a:sym typeface="+mn-ea"/>
                </a:rPr>
                <a:t>I plan to start to study assemble language in this week if i can finish the laboratories quickly.</a:t>
              </a:r>
            </a:p>
          </p:txBody>
        </p:sp>
      </p:grpSp>
      <p:sp>
        <p:nvSpPr>
          <p:cNvPr id="2" name="文本框 1"/>
          <p:cNvSpPr txBox="1"/>
          <p:nvPr/>
        </p:nvSpPr>
        <p:spPr>
          <a:xfrm>
            <a:off x="11434445" y="6061710"/>
            <a:ext cx="489585" cy="337185"/>
          </a:xfrm>
          <a:prstGeom prst="rect">
            <a:avLst/>
          </a:prstGeom>
          <a:noFill/>
        </p:spPr>
        <p:txBody>
          <a:bodyPr wrap="square" rtlCol="0">
            <a:spAutoFit/>
          </a:bodyPr>
          <a:lstStyle/>
          <a:p>
            <a:pPr algn="ctr"/>
            <a:r>
              <a:rPr lang="en-US" altLang="zh-CN" sz="1600">
                <a:latin typeface="Arial" panose="020B0604020202020204" pitchFamily="34" charset="0"/>
                <a:cs typeface="Arial" panose="020B0604020202020204" pitchFamily="34" charset="0"/>
              </a:rPr>
              <a:t>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ViYjA4YjczODZkNzY4ZmRmNjg2ZmVlYjE2OGMwNTAifQ=="/>
  <p:tag name="KSO_WPP_MARK_KEY" val="e6c85fa1-cd61-4d87-b6eb-0c65704176e6"/>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i"/>
  <p:tag name="KSO_WM_UNIT_INDEX" val="1_2_4"/>
  <p:tag name="KSO_WM_UNIT_ID" val="diagram20160817_4*q_h_i*1_2_4"/>
  <p:tag name="KSO_WM_UNIT_LAYERLEVEL" val="1_1_1"/>
  <p:tag name="KSO_WM_DIAGRAM_GROUP_CODE" val="q1-1"/>
  <p:tag name="KSO_WM_UNIT_SHADOW_SCHEMECOLOR_INDEX" val="16"/>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a"/>
  <p:tag name="KSO_WM_UNIT_INDEX" val="1_2_1"/>
  <p:tag name="KSO_WM_UNIT_ID" val="diagram20160817_4*q_h_a*1_2_1"/>
  <p:tag name="KSO_WM_UNIT_LAYERLEVEL" val="1_1_1"/>
  <p:tag name="KSO_WM_UNIT_VALUE" val="5"/>
  <p:tag name="KSO_WM_UNIT_HIGHLIGHT" val="0"/>
  <p:tag name="KSO_WM_UNIT_COMPATIBLE" val="0"/>
  <p:tag name="KSO_WM_UNIT_CLEAR" val="0"/>
  <p:tag name="KSO_WM_DIAGRAM_GROUP_CODE" val="q1-1"/>
  <p:tag name="KSO_WM_UNIT_PRESET_TEXT" val="OPTION 0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0817"/>
  <p:tag name="KSO_WM_UNIT_TYPE" val="q_h_f"/>
  <p:tag name="KSO_WM_UNIT_INDEX" val="1_2_1"/>
  <p:tag name="KSO_WM_UNIT_ID" val="diagram20160817_4*q_h_f*1_2_1"/>
  <p:tag name="KSO_WM_UNIT_LAYERLEVEL" val="1_1_1"/>
  <p:tag name="KSO_WM_UNIT_VALUE" val="21"/>
  <p:tag name="KSO_WM_UNIT_HIGHLIGHT" val="0"/>
  <p:tag name="KSO_WM_UNIT_COMPATIBLE" val="0"/>
  <p:tag name="KSO_WM_UNIT_CLEAR" val="0"/>
  <p:tag name="KSO_WM_DIAGRAM_GROUP_CODE" val="q1-1"/>
  <p:tag name="KSO_WM_UNIT_PRESET_TEXT" val="Lorem ipsum dolor sit amet, consectetur"/>
  <p:tag name="KSO_WM_UNIT_TEXT_FILL_FORE_SCHEMECOLOR_INDEX" val="13"/>
  <p:tag name="KSO_WM_UNIT_TEXT_FILL_TYP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375</Words>
  <Application>Microsoft Office PowerPoint</Application>
  <PresentationFormat>宽屏</PresentationFormat>
  <Paragraphs>46</Paragraphs>
  <Slides>7</Slides>
  <Notes>7</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Microsoft YaHei</vt:lpstr>
      <vt:lpstr>Arial</vt:lpstr>
      <vt:lpstr>Calibri</vt:lpstr>
      <vt:lpstr>Calibri Light</vt:lpstr>
      <vt:lpstr>Palatino Linotype</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Zhong, Fangtian</dc:creator>
  <cp:lastModifiedBy>钱 卓雲</cp:lastModifiedBy>
  <cp:revision>15</cp:revision>
  <dcterms:created xsi:type="dcterms:W3CDTF">2022-09-21T15:51:00Z</dcterms:created>
  <dcterms:modified xsi:type="dcterms:W3CDTF">2023-06-05T12:44:14Z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5774AF3419E54AE4B7AB6A59D016591E</vt:lpwstr>
  </property>
  <property fmtid="{D5CDD505-2E9C-101B-9397-08002B2CF9AE}" pid="3" name="KSOProductBuildVer">
    <vt:lpwstr>1033-11.2.0.11417</vt:lpwstr>
  </property>
</Properties>
</file>