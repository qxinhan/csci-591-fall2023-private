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423" r:id="rId3"/>
    <p:sldId id="424" r:id="rId5"/>
    <p:sldId id="425" r:id="rId6"/>
    <p:sldId id="428" r:id="rId7"/>
    <p:sldId id="429" r:id="rId8"/>
    <p:sldId id="431" r:id="rId9"/>
    <p:sldId id="433" r:id="rId10"/>
    <p:sldId id="427" r:id="rId11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7"/>
    <p:restoredTop sz="96322"/>
  </p:normalViewPr>
  <p:slideViewPr>
    <p:cSldViewPr snapToGrid="0">
      <p:cViewPr varScale="1">
        <p:scale>
          <a:sx n="128" d="100"/>
          <a:sy n="128" d="100"/>
        </p:scale>
        <p:origin x="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30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A6D457-D595-D74A-B943-9BE89BF1815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A9FDB8-D5FC-364C-AEB4-B7B45138951E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23020B4-C4F0-47FB-9EF6-DA1D8CA35CE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 userDrawn="1"/>
        </p:nvGrpSpPr>
        <p:grpSpPr>
          <a:xfrm flipV="1">
            <a:off x="0" y="6487888"/>
            <a:ext cx="12192000" cy="370112"/>
            <a:chOff x="0" y="-40730"/>
            <a:chExt cx="12192000" cy="370112"/>
          </a:xfrm>
        </p:grpSpPr>
        <p:sp>
          <p:nvSpPr>
            <p:cNvPr id="6" name="矩形 5"/>
            <p:cNvSpPr/>
            <p:nvPr userDrawn="1"/>
          </p:nvSpPr>
          <p:spPr>
            <a:xfrm>
              <a:off x="0" y="-40730"/>
              <a:ext cx="12192000" cy="37011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  <p:sp>
          <p:nvSpPr>
            <p:cNvPr id="7" name="矩形 6"/>
            <p:cNvSpPr/>
            <p:nvPr userDrawn="1"/>
          </p:nvSpPr>
          <p:spPr>
            <a:xfrm>
              <a:off x="0" y="-40730"/>
              <a:ext cx="12192000" cy="285614"/>
            </a:xfrm>
            <a:prstGeom prst="rect">
              <a:avLst/>
            </a:prstGeom>
            <a:solidFill>
              <a:srgbClr val="005CA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阿里巴巴普惠体 R" panose="00020600040101010101" pitchFamily="18" charset="-122"/>
              </a:endParaRPr>
            </a:p>
          </p:txBody>
        </p:sp>
      </p:grpSp>
      <p:sp>
        <p:nvSpPr>
          <p:cNvPr id="96" name="菱形 95"/>
          <p:cNvSpPr/>
          <p:nvPr userDrawn="1"/>
        </p:nvSpPr>
        <p:spPr>
          <a:xfrm>
            <a:off x="600451" y="370197"/>
            <a:ext cx="372167" cy="372166"/>
          </a:xfrm>
          <a:prstGeom prst="diamond">
            <a:avLst/>
          </a:prstGeom>
          <a:solidFill>
            <a:schemeClr val="bg1">
              <a:lumMod val="85000"/>
            </a:schemeClr>
          </a:solidFill>
          <a:ln w="19050">
            <a:solidFill>
              <a:srgbClr val="005CA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97" name="菱形 96"/>
          <p:cNvSpPr/>
          <p:nvPr userDrawn="1"/>
        </p:nvSpPr>
        <p:spPr>
          <a:xfrm>
            <a:off x="356797" y="312627"/>
            <a:ext cx="487308" cy="487307"/>
          </a:xfrm>
          <a:prstGeom prst="diamond">
            <a:avLst/>
          </a:prstGeom>
          <a:solidFill>
            <a:srgbClr val="005CA2"/>
          </a:solidFill>
          <a:ln>
            <a:solidFill>
              <a:srgbClr val="004EE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ea typeface="阿里巴巴普惠体 R" panose="00020600040101010101" pitchFamily="18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quarter" idx="10" hasCustomPrompt="1"/>
          </p:nvPr>
        </p:nvSpPr>
        <p:spPr>
          <a:xfrm>
            <a:off x="1078230" y="357505"/>
            <a:ext cx="5685155" cy="4419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1">
                <a:solidFill>
                  <a:srgbClr val="005CA2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b="1">
                <a:solidFill>
                  <a:schemeClr val="accent1"/>
                </a:solidFill>
                <a:latin typeface="+mj-ea"/>
                <a:ea typeface="+mj-ea"/>
              </a:defRPr>
            </a:lvl2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974146-AD47-D54A-ADAE-EACD76BE342A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2251F9-74DE-384F-8BBE-4068C9F07240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2.png"/><Relationship Id="rId6" Type="http://schemas.openxmlformats.org/officeDocument/2006/relationships/tags" Target="../tags/tag9.xml"/><Relationship Id="rId5" Type="http://schemas.openxmlformats.org/officeDocument/2006/relationships/image" Target="../media/image1.png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.png"/><Relationship Id="rId6" Type="http://schemas.openxmlformats.org/officeDocument/2006/relationships/tags" Target="../tags/tag13.xml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7.png"/><Relationship Id="rId6" Type="http://schemas.openxmlformats.org/officeDocument/2006/relationships/tags" Target="../tags/tag18.xml"/><Relationship Id="rId5" Type="http://schemas.openxmlformats.org/officeDocument/2006/relationships/image" Target="../media/image6.png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9.png"/><Relationship Id="rId6" Type="http://schemas.openxmlformats.org/officeDocument/2006/relationships/tags" Target="../tags/tag23.xml"/><Relationship Id="rId5" Type="http://schemas.openxmlformats.org/officeDocument/2006/relationships/image" Target="../media/image8.png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Planed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0230" y="1105535"/>
            <a:ext cx="5132705" cy="1904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ctr" anchorCtr="0">
            <a:noAutofit/>
          </a:bodyPr>
          <a:lstStyle>
            <a:defPPr>
              <a:defRPr lang="zh-CN"/>
            </a:defPPr>
            <a:lvl1pPr>
              <a:lnSpc>
                <a:spcPct val="120000"/>
              </a:lnSpc>
              <a:buFont typeface="Arial" panose="020B0604020202020204" pitchFamily="34" charset="0"/>
              <a:buNone/>
              <a:defRPr sz="1800">
                <a:solidFill>
                  <a:sysClr val="windowText" lastClr="000000">
                    <a:lumMod val="50000"/>
                    <a:lumOff val="50000"/>
                  </a:sysClr>
                </a:solidFill>
              </a:defRPr>
            </a:lvl1pPr>
          </a:lstStyle>
          <a:p>
            <a:pPr marL="285750" indent="-285750">
              <a:buClr>
                <a:srgbClr val="00B0F0"/>
              </a:buClr>
              <a:buFont typeface="Wingdings" panose="05000000000000000000" charset="0"/>
              <a:buChar char="u"/>
            </a:pPr>
            <a:r>
              <a: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Finish studying the code you wr</a:t>
            </a:r>
            <a:r>
              <a: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ote to parse the PE File.</a:t>
            </a:r>
            <a:endParaRPr lang="en-US" sz="1700" dirty="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charset="0"/>
              <a:buChar char="u"/>
            </a:pPr>
            <a:r>
              <a: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I planed to finish Project1,2,3.</a:t>
            </a:r>
            <a:endParaRPr lang="en-US" sz="1700" dirty="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  <a:p>
            <a:pPr marL="285750" indent="-285750">
              <a:buClr>
                <a:srgbClr val="00B0F0"/>
              </a:buClr>
              <a:buFont typeface="Wingdings" panose="05000000000000000000" charset="0"/>
              <a:buChar char="u"/>
            </a:pPr>
            <a:r>
              <a: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rPr>
              <a:t>Start to study the  assemble language.</a:t>
            </a:r>
            <a:endParaRPr lang="en-US" sz="1700" dirty="0">
              <a:solidFill>
                <a:schemeClr val="tx1"/>
              </a:solidFill>
              <a:latin typeface="Palatino Linotype" panose="02040502050505030304" charset="0"/>
              <a:cs typeface="Palatino Linotype" panose="02040502050505030304" charset="0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Results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2275840"/>
            <a:chOff x="839" y="1816"/>
            <a:chExt cx="8083" cy="358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Results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401"/>
              <a:ext cx="8083" cy="2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just finish the Project1 and do not follow the standard you provided to write the code.</a:t>
              </a:r>
              <a:endPara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finish learning the whole code you provide in blog.</a:t>
              </a:r>
              <a:endPara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Why the last entry is zero-padded?While the Rich Header is parsed,i don’t find the zero-padded part.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endParaRPr lang="zh-CN" alt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6568440" y="767715"/>
            <a:ext cx="5623560" cy="274510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23125" y="3768090"/>
            <a:ext cx="3238500" cy="12763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2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782955"/>
            <a:ext cx="5132705" cy="4490085"/>
            <a:chOff x="839" y="1233"/>
            <a:chExt cx="8083" cy="7071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2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1233"/>
              <a:ext cx="8083" cy="70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Please look at the screenshot.The DosHeader.e_lfanew plus sizeof(WORD) and sizeof(IMAGE_FILE_HEADER) the pointer of the file will point  at the 0x0B,then the ‘TheTypeOfFile’ will be the 0x10B0.Otherwise,if i use ‘sizeof(DWORD)’ the 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‘TheTypeOfFile’ will be the 0x2320.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rgbClr val="FF0000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print the File_Header one WORD by one WORD and find 0x4550,0x0000 the two values are not included in the IMAGE_FILE_HEADER so the offset needs to plus sizeof(DWORD).</a:t>
              </a:r>
              <a:endParaRPr lang="en-US" altLang="zh-CN" sz="1700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 descr="capture_202305292137572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5" y="5394960"/>
            <a:ext cx="9671050" cy="666750"/>
          </a:xfrm>
          <a:prstGeom prst="rect">
            <a:avLst/>
          </a:prstGeom>
        </p:spPr>
      </p:pic>
      <p:pic>
        <p:nvPicPr>
          <p:cNvPr id="6" name="图片 5" descr="capture_2023052921381326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94220" y="1814830"/>
            <a:ext cx="3403600" cy="19748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27025" y="6061710"/>
            <a:ext cx="5143500" cy="29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3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1898015"/>
            <a:chOff x="839" y="1816"/>
            <a:chExt cx="8083" cy="2989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3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2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Maybe i have not installed the wondows SDK.</a:t>
              </a: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still don’t known the reason of it and how to solve it.I don’t import the ‘winnt.h’  while i just define structures of the headers in ‘winntdef64’,but VS throws a error ‘No Target...’.Why?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2256790" y="3637915"/>
            <a:ext cx="3117850" cy="2794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3359785" y="4071620"/>
            <a:ext cx="7397750" cy="16637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4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32765" y="1153160"/>
            <a:ext cx="5132705" cy="4714240"/>
            <a:chOff x="839" y="1816"/>
            <a:chExt cx="8083" cy="7424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4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839" y="2323"/>
              <a:ext cx="8083" cy="69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Please look at the screenshot,why the ‘Image Base’ is different but other values are the same.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guess that the type of the parameter doesn’t match,right?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find that you also ‘printf(“%X”)’ ,why? The Parameter types do not match will cause data accuracy loss?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183120" y="937895"/>
            <a:ext cx="4830445" cy="381635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532765" y="5769610"/>
            <a:ext cx="10420350" cy="742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4" y="97155"/>
            <a:ext cx="6121029" cy="791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5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Challenges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and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Solutions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3119755"/>
            <a:chOff x="769" y="1816"/>
            <a:chExt cx="8083" cy="4913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4904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Challenges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and</a:t>
              </a:r>
              <a:r>
                <a:rPr lang="zh-CN" altLang="en-US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cs typeface="Palatino Linotype" panose="02040502050505030304" charset="0"/>
                </a:rPr>
                <a:t>solutions</a:t>
              </a:r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 5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401"/>
              <a:ext cx="8083" cy="4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Today i meet a problem,.The following is my code that parses the PE Headers ,i do not follow your standard to write the code because i now am not able to use the GitHub skillfully.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The problem is that it can parse the eclipse.exe correctly,but can’t parse the 302746537.exe you provide.</a:t>
              </a:r>
              <a:endParaRPr lang="en-US" altLang="zh-CN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altLang="zh-CN" sz="1700" dirty="0">
                  <a:solidFill>
                    <a:srgbClr val="FF0000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OKOK,after i write the question 1 minute,i realize that i have copied the wreong path,i solve the problem.</a:t>
              </a:r>
              <a:endParaRPr lang="en-US" altLang="zh-CN" sz="1700" dirty="0">
                <a:solidFill>
                  <a:srgbClr val="FF0000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6240" y="4522470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solidFill>
                  <a:schemeClr val="accent1"/>
                </a:solidFill>
              </a:rPr>
              <a:t>https://github.com/QXinHan/BugOwner/tree/ParsePEHds</a:t>
            </a:r>
            <a:endParaRPr lang="zh-CN" alt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973455" y="97155"/>
            <a:ext cx="3154045" cy="7196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  <a:spcBef>
                <a:spcPts val="600"/>
              </a:spcBef>
            </a:pPr>
            <a:r>
              <a:rPr 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1</a:t>
            </a:r>
            <a:r>
              <a:rPr lang="zh-CN" altLang="en-US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 </a:t>
            </a:r>
            <a:r>
              <a:rPr lang="en-US" altLang="zh-CN" sz="3500" b="1" dirty="0">
                <a:solidFill>
                  <a:srgbClr val="005CA2"/>
                </a:solidFill>
                <a:latin typeface="Arial" panose="020B0604020202020204" pitchFamily="34" charset="0"/>
                <a:cs typeface="Arial" panose="020B0604020202020204" pitchFamily="34" charset="0"/>
                <a:sym typeface="+mn-lt"/>
              </a:rPr>
              <a:t>Plan</a:t>
            </a:r>
            <a:endParaRPr sz="3500" b="1" dirty="0">
              <a:solidFill>
                <a:srgbClr val="005CA2"/>
              </a:solidFill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488315" y="1153160"/>
            <a:ext cx="5132705" cy="1636395"/>
            <a:chOff x="769" y="1816"/>
            <a:chExt cx="8083" cy="2577"/>
          </a:xfrm>
        </p:grpSpPr>
        <p:sp>
          <p:nvSpPr>
            <p:cNvPr id="225" name="Line 24"/>
            <p:cNvSpPr>
              <a:spLocks noChangeShapeType="1"/>
            </p:cNvSpPr>
            <p:nvPr>
              <p:custDataLst>
                <p:tags r:id="rId1"/>
              </p:custDataLst>
            </p:nvPr>
          </p:nvSpPr>
          <p:spPr bwMode="auto">
            <a:xfrm>
              <a:off x="839" y="3863"/>
              <a:ext cx="8013" cy="0"/>
            </a:xfrm>
            <a:prstGeom prst="line">
              <a:avLst/>
            </a:prstGeom>
            <a:noFill/>
            <a:ln w="6350">
              <a:solidFill>
                <a:srgbClr val="00B0F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EEECE1"/>
                    </a:outerShdw>
                  </a:effectLst>
                </a14:hiddenEffects>
              </a:ext>
            </a:extLst>
          </p:spPr>
          <p:txBody>
            <a:bodyPr wrap="square" lIns="90000" tIns="46800" rIns="90000" bIns="46800" anchor="ctr" anchorCtr="0">
              <a:normAutofit fontScale="25000" lnSpcReduction="20000"/>
            </a:bodyPr>
            <a:lstStyle/>
            <a:p>
              <a:endParaRPr lang="zh-CN" altLang="en-US" sz="1690">
                <a:solidFill>
                  <a:sysClr val="windowText" lastClr="000000">
                    <a:lumMod val="50000"/>
                    <a:lumOff val="50000"/>
                  </a:sysClr>
                </a:solidFill>
              </a:endParaRPr>
            </a:p>
          </p:txBody>
        </p:sp>
        <p:sp>
          <p:nvSpPr>
            <p:cNvPr id="226" name="文本框 225"/>
            <p:cNvSpPr txBox="1"/>
            <p:nvPr>
              <p:custDataLst>
                <p:tags r:id="rId2"/>
              </p:custDataLst>
            </p:nvPr>
          </p:nvSpPr>
          <p:spPr>
            <a:xfrm>
              <a:off x="839" y="1816"/>
              <a:ext cx="3147" cy="585"/>
            </a:xfrm>
            <a:prstGeom prst="rect">
              <a:avLst/>
            </a:prstGeom>
            <a:noFill/>
          </p:spPr>
          <p:txBody>
            <a:bodyPr wrap="square" lIns="90000" tIns="46800" rIns="90000" bIns="46800" rtlCol="0" anchor="ctr" anchorCtr="0"/>
            <a:lstStyle/>
            <a:p>
              <a:r>
                <a:rPr lang="en-US" altLang="zh-CN" b="1" dirty="0">
                  <a:solidFill>
                    <a:srgbClr val="00B0F0"/>
                  </a:solidFill>
                  <a:latin typeface="Palatino Linotype" panose="02040502050505030304" charset="0"/>
                  <a:ea typeface="+mn-ea"/>
                  <a:cs typeface="Palatino Linotype" panose="02040502050505030304" charset="0"/>
                </a:rPr>
                <a:t>plan 1</a:t>
              </a:r>
              <a:endParaRPr lang="en-US" altLang="zh-CN" b="1" dirty="0">
                <a:solidFill>
                  <a:srgbClr val="00B0F0"/>
                </a:solidFill>
                <a:latin typeface="Palatino Linotype" panose="02040502050505030304" charset="0"/>
                <a:ea typeface="+mn-ea"/>
                <a:cs typeface="Palatino Linotype" panose="02040502050505030304" charset="0"/>
              </a:endParaRPr>
            </a:p>
          </p:txBody>
        </p:sp>
        <p:sp>
          <p:nvSpPr>
            <p:cNvPr id="238" name="文本框 237"/>
            <p:cNvSpPr txBox="1"/>
            <p:nvPr>
              <p:custDataLst>
                <p:tags r:id="rId3"/>
              </p:custDataLst>
            </p:nvPr>
          </p:nvSpPr>
          <p:spPr>
            <a:xfrm>
              <a:off x="769" y="2181"/>
              <a:ext cx="8083" cy="2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90000" tIns="46800" rIns="90000" bIns="46800" anchor="ctr" anchorCtr="0">
              <a:noAutofit/>
            </a:bodyPr>
            <a:lstStyle>
              <a:defPPr>
                <a:defRPr lang="zh-CN"/>
              </a:defPPr>
              <a:lvl1pPr>
                <a:lnSpc>
                  <a:spcPct val="120000"/>
                </a:lnSpc>
                <a:buFont typeface="Arial" panose="020B0604020202020204" pitchFamily="34" charset="0"/>
                <a:buNone/>
                <a:defRPr sz="1800">
                  <a:solidFill>
                    <a:sysClr val="windowText" lastClr="000000">
                      <a:lumMod val="50000"/>
                      <a:lumOff val="50000"/>
                    </a:sysClr>
                  </a:solidFill>
                </a:defRPr>
              </a:lvl1pPr>
            </a:lstStyle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I want to start to study the assemble language.</a:t>
              </a:r>
              <a:endPara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  <a:p>
              <a:pPr marL="285750" indent="-285750">
                <a:buClr>
                  <a:srgbClr val="00B0F0"/>
                </a:buClr>
                <a:buFont typeface="Wingdings" panose="05000000000000000000" charset="0"/>
                <a:buChar char="u"/>
              </a:pP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After i start studying</a:t>
              </a: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the assemble language i will make the plan in details.</a:t>
              </a:r>
              <a:r>
                <a:rPr lang="en-US" sz="1700" dirty="0">
                  <a:solidFill>
                    <a:schemeClr val="tx1"/>
                  </a:solidFill>
                  <a:latin typeface="Palatino Linotype" panose="02040502050505030304" charset="0"/>
                  <a:cs typeface="Palatino Linotype" panose="02040502050505030304" charset="0"/>
                  <a:sym typeface="+mn-ea"/>
                </a:rPr>
                <a:t> </a:t>
              </a:r>
              <a:endParaRPr lang="en-US" sz="1700" dirty="0">
                <a:solidFill>
                  <a:schemeClr val="tx1"/>
                </a:solidFill>
                <a:latin typeface="Palatino Linotype" panose="02040502050505030304" charset="0"/>
                <a:cs typeface="Palatino Linotype" panose="02040502050505030304" charset="0"/>
                <a:sym typeface="+mn-ea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1434445" y="6061710"/>
            <a:ext cx="48958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altLang="zh-CN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TAG_VERSION" val="1.0"/>
  <p:tag name="KSO_WM_BEAUTIFY_FLAG" val="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3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2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1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1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0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1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5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6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27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i"/>
  <p:tag name="KSO_WM_UNIT_INDEX" val="1_2_4"/>
  <p:tag name="KSO_WM_UNIT_ID" val="diagram20160817_4*q_h_i*1_2_4"/>
  <p:tag name="KSO_WM_UNIT_LAYERLEVEL" val="1_1_1"/>
  <p:tag name="KSO_WM_DIAGRAM_GROUP_CODE" val="q1-1"/>
  <p:tag name="KSO_WM_UNIT_SHADOW_SCHEMECOLOR_INDEX" val="16"/>
  <p:tag name="KSO_WM_UNIT_TEXT_FILL_FORE_SCHEMECOLOR_INDEX" val="13"/>
  <p:tag name="KSO_WM_UNIT_TEXT_FILL_TYPE" val="1"/>
</p:tagLst>
</file>

<file path=ppt/tags/tag28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a"/>
  <p:tag name="KSO_WM_UNIT_INDEX" val="1_2_1"/>
  <p:tag name="KSO_WM_UNIT_ID" val="diagram20160817_4*q_h_a*1_2_1"/>
  <p:tag name="KSO_WM_UNIT_LAYERLEVEL" val="1_1_1"/>
  <p:tag name="KSO_WM_UNIT_VALUE" val="5"/>
  <p:tag name="KSO_WM_UNIT_HIGHLIGHT" val="0"/>
  <p:tag name="KSO_WM_UNIT_COMPATIBLE" val="0"/>
  <p:tag name="KSO_WM_UNIT_CLEAR" val="0"/>
  <p:tag name="KSO_WM_DIAGRAM_GROUP_CODE" val="q1-1"/>
  <p:tag name="KSO_WM_UNIT_PRESET_TEXT" val="OPTION 01"/>
  <p:tag name="KSO_WM_UNIT_TEXT_FILL_FORE_SCHEMECOLOR_INDEX" val="13"/>
  <p:tag name="KSO_WM_UNIT_TEXT_FILL_TYPE" val="1"/>
</p:tagLst>
</file>

<file path=ppt/tags/tag29.xml><?xml version="1.0" encoding="utf-8"?>
<p:tagLst xmlns:p="http://schemas.openxmlformats.org/presentationml/2006/main">
  <p:tag name="KSO_WM_TAG_VERSION" val="1.0"/>
  <p:tag name="KSO_WM_BEAUTIFY_FLAG" val="#wm#"/>
  <p:tag name="KSO_WM_TEMPLATE_CATEGORY" val="diagram"/>
  <p:tag name="KSO_WM_TEMPLATE_INDEX" val="20160817"/>
  <p:tag name="KSO_WM_UNIT_TYPE" val="q_h_f"/>
  <p:tag name="KSO_WM_UNIT_INDEX" val="1_2_1"/>
  <p:tag name="KSO_WM_UNIT_ID" val="diagram20160817_4*q_h_f*1_2_1"/>
  <p:tag name="KSO_WM_UNIT_LAYERLEVEL" val="1_1_1"/>
  <p:tag name="KSO_WM_UNIT_VALUE" val="21"/>
  <p:tag name="KSO_WM_UNIT_HIGHLIGHT" val="0"/>
  <p:tag name="KSO_WM_UNIT_COMPATIBLE" val="0"/>
  <p:tag name="KSO_WM_UNIT_CLEAR" val="0"/>
  <p:tag name="KSO_WM_DIAGRAM_GROUP_CODE" val="q1-1"/>
  <p:tag name="KSO_WM_UNIT_PRESET_TEXT" val="Lorem ipsum dolor sit amet, consectetur"/>
  <p:tag name="KSO_WM_UNIT_TEXT_FILL_FORE_SCHEMECOLOR_INDEX" val="13"/>
  <p:tag name="KSO_WM_UNIT_TEXT_FILL_TYPE" val="1"/>
</p:tagLst>
</file>

<file path=ppt/tags/tag30.xml><?xml version="1.0" encoding="utf-8"?>
<p:tagLst xmlns:p="http://schemas.openxmlformats.org/presentationml/2006/main">
  <p:tag name="COMMONDATA" val="eyJoZGlkIjoiMWViYjA4YjczODZkNzY4ZmRmNjg2ZmVlYjE2OGMwNTAifQ=="/>
  <p:tag name="KSO_WPP_MARK_KEY" val="e6c85fa1-cd61-4d87-b6eb-0c65704176e6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2162</Words>
  <Application>WPS 演示</Application>
  <PresentationFormat>Widescreen</PresentationFormat>
  <Paragraphs>74</Paragraphs>
  <Slides>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阿里巴巴普惠体 R</vt:lpstr>
      <vt:lpstr>微软雅黑</vt:lpstr>
      <vt:lpstr>Wingdings</vt:lpstr>
      <vt:lpstr>Palatino Linotype</vt:lpstr>
      <vt:lpstr>Calibri</vt:lpstr>
      <vt:lpstr>Arial Unicode MS</vt:lpstr>
      <vt:lpstr>Calibri Light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Zhong, Fangtian</dc:creator>
  <cp:lastModifiedBy>WPS_1662446722</cp:lastModifiedBy>
  <cp:revision>25</cp:revision>
  <dcterms:created xsi:type="dcterms:W3CDTF">2022-09-21T15:51:00Z</dcterms:created>
  <dcterms:modified xsi:type="dcterms:W3CDTF">2023-05-31T02:29:46Z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CC2C0F941B7A40BB95BC861408F20AFB_12</vt:lpwstr>
  </property>
  <property fmtid="{D5CDD505-2E9C-101B-9397-08002B2CF9AE}" pid="3" name="KSOProductBuildVer">
    <vt:lpwstr>2052-11.1.0.14309</vt:lpwstr>
  </property>
</Properties>
</file>