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423" r:id="rId2"/>
    <p:sldId id="424" r:id="rId3"/>
    <p:sldId id="425" r:id="rId4"/>
    <p:sldId id="428" r:id="rId5"/>
    <p:sldId id="430" r:id="rId6"/>
    <p:sldId id="431" r:id="rId7"/>
    <p:sldId id="427" r:id="rId8"/>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6322"/>
  </p:normalViewPr>
  <p:slideViewPr>
    <p:cSldViewPr snapToGrid="0">
      <p:cViewPr varScale="1">
        <p:scale>
          <a:sx n="107" d="100"/>
          <a:sy n="107" d="100"/>
        </p:scale>
        <p:origin x="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A6D457-D595-D74A-B943-9BE89BF18156}" type="datetimeFigureOut">
              <a:rPr lang="en-US" smtClean="0"/>
              <a:t>7/21/2023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A9FDB8-D5FC-364C-AEB4-B7B4513895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9974146-AD47-D54A-ADAE-EACD76BE342A}"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74146-AD47-D54A-ADAE-EACD76BE342A}"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9974146-AD47-D54A-ADAE-EACD76BE342A}" type="datetimeFigureOut">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9974146-AD47-D54A-ADAE-EACD76BE342A}" type="datetimeFigureOut">
              <a:rPr lang="en-US" smtClean="0"/>
              <a:t>7/21/2023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974146-AD47-D54A-ADAE-EACD76BE342A}" type="datetimeFigureOut">
              <a:rPr lang="en-US" smtClean="0"/>
              <a:t>7/21/2023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74146-AD47-D54A-ADAE-EACD76BE342A}" type="datetimeFigureOut">
              <a:rPr lang="en-US" smtClean="0"/>
              <a:t>7/21/2023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74146-AD47-D54A-ADAE-EACD76BE342A}" type="datetimeFigureOut">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74146-AD47-D54A-ADAE-EACD76BE342A}" type="datetimeFigureOut">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grpSp>
        <p:nvGrpSpPr>
          <p:cNvPr id="5" name="组合 4"/>
          <p:cNvGrpSpPr/>
          <p:nvPr userDrawn="1"/>
        </p:nvGrpSpPr>
        <p:grpSpPr>
          <a:xfrm flipV="1">
            <a:off x="0" y="6487888"/>
            <a:ext cx="12192000" cy="370112"/>
            <a:chOff x="0" y="-40730"/>
            <a:chExt cx="12192000" cy="370112"/>
          </a:xfrm>
        </p:grpSpPr>
        <p:sp>
          <p:nvSpPr>
            <p:cNvPr id="6" name="矩形 5"/>
            <p:cNvSpPr/>
            <p:nvPr userDrawn="1"/>
          </p:nvSpPr>
          <p:spPr>
            <a:xfrm>
              <a:off x="0" y="-40730"/>
              <a:ext cx="12192000" cy="3701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7" name="矩形 6"/>
            <p:cNvSpPr/>
            <p:nvPr userDrawn="1"/>
          </p:nvSpPr>
          <p:spPr>
            <a:xfrm>
              <a:off x="0" y="-40730"/>
              <a:ext cx="12192000" cy="285614"/>
            </a:xfrm>
            <a:prstGeom prst="rect">
              <a:avLst/>
            </a:prstGeom>
            <a:solidFill>
              <a:srgbClr val="005C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grpSp>
      <p:sp>
        <p:nvSpPr>
          <p:cNvPr id="96" name="菱形 95"/>
          <p:cNvSpPr/>
          <p:nvPr userDrawn="1"/>
        </p:nvSpPr>
        <p:spPr>
          <a:xfrm>
            <a:off x="600451" y="370197"/>
            <a:ext cx="372167" cy="372166"/>
          </a:xfrm>
          <a:prstGeom prst="diamond">
            <a:avLst/>
          </a:prstGeom>
          <a:solidFill>
            <a:schemeClr val="bg1">
              <a:lumMod val="85000"/>
            </a:schemeClr>
          </a:solidFill>
          <a:ln w="19050">
            <a:solidFill>
              <a:srgbClr val="005C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97" name="菱形 96"/>
          <p:cNvSpPr/>
          <p:nvPr userDrawn="1"/>
        </p:nvSpPr>
        <p:spPr>
          <a:xfrm>
            <a:off x="356797" y="312627"/>
            <a:ext cx="487308" cy="487307"/>
          </a:xfrm>
          <a:prstGeom prst="diamond">
            <a:avLst/>
          </a:prstGeom>
          <a:solidFill>
            <a:srgbClr val="005CA2"/>
          </a:solidFill>
          <a:ln>
            <a:solidFill>
              <a:srgbClr val="004E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3" name="内容占位符 2"/>
          <p:cNvSpPr>
            <a:spLocks noGrp="1"/>
          </p:cNvSpPr>
          <p:nvPr>
            <p:ph sz="quarter" idx="10" hasCustomPrompt="1"/>
          </p:nvPr>
        </p:nvSpPr>
        <p:spPr>
          <a:xfrm>
            <a:off x="1078230" y="357505"/>
            <a:ext cx="5685155" cy="441960"/>
          </a:xfrm>
          <a:prstGeom prst="rect">
            <a:avLst/>
          </a:prstGeom>
        </p:spPr>
        <p:txBody>
          <a:bodyPr/>
          <a:lstStyle>
            <a:lvl1pPr marL="0" indent="0">
              <a:buNone/>
              <a:defRPr b="1">
                <a:solidFill>
                  <a:srgbClr val="005CA2"/>
                </a:solidFill>
                <a:latin typeface="微软雅黑" panose="020B0503020204020204" charset="-122"/>
                <a:ea typeface="微软雅黑" panose="020B0503020204020204" charset="-122"/>
              </a:defRPr>
            </a:lvl1pPr>
            <a:lvl2pPr marL="457200" indent="0">
              <a:buNone/>
              <a:defRPr b="1">
                <a:solidFill>
                  <a:schemeClr val="accent1"/>
                </a:solidFill>
                <a:latin typeface="+mj-ea"/>
                <a:ea typeface="+mj-ea"/>
              </a:defRPr>
            </a:lvl2pPr>
          </a:lstStyle>
          <a:p>
            <a:pPr lvl="0"/>
            <a:r>
              <a:rPr lang="zh-CN" altLang="en-US" dirty="0"/>
              <a:t>编辑母版文本样式</a:t>
            </a: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974146-AD47-D54A-ADAE-EACD76BE342A}" type="datetimeFigureOut">
              <a:rPr lang="en-US" smtClean="0"/>
              <a:t>7/21/2023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2251F9-74DE-384F-8BBE-4068C9F0724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hyperlink" Target="https://docs.qq.com/sheet/DTUlvbnJxVWRIaU5h?tab=BB08J2&amp;_t=1689300733234&amp;u=ceda27097b74424b8fb632b77161a98a" TargetMode="External"/><Relationship Id="rId5" Type="http://schemas.openxmlformats.org/officeDocument/2006/relationships/notesSlide" Target="../notesSlides/notesSlide1.xml"/><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notesSlide" Target="../notesSlides/notesSlide2.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png"/><Relationship Id="rId5" Type="http://schemas.openxmlformats.org/officeDocument/2006/relationships/notesSlide" Target="../notesSlides/notesSlide3.xml"/><Relationship Id="rId4"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png"/><Relationship Id="rId5" Type="http://schemas.openxmlformats.org/officeDocument/2006/relationships/notesSlide" Target="../notesSlides/notesSlide4.xml"/><Relationship Id="rId4"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tags" Target="../tags/tag17.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20.xml"/><Relationship Id="rId7" Type="http://schemas.openxmlformats.org/officeDocument/2006/relationships/image" Target="../media/image4.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hyperlink" Target="https://blog.csdn.net/tqydyqt/article/details/113544577" TargetMode="External"/><Relationship Id="rId5" Type="http://schemas.openxmlformats.org/officeDocument/2006/relationships/notesSlide" Target="../notesSlides/notesSlide6.xml"/><Relationship Id="rId4" Type="http://schemas.openxmlformats.org/officeDocument/2006/relationships/slideLayout" Target="../slideLayouts/slideLayout12.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notesSlide" Target="../notesSlides/notesSlide7.xml"/><Relationship Id="rId4"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Planed</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97139" y="1153160"/>
            <a:ext cx="5132705" cy="1838325"/>
            <a:chOff x="839" y="1816"/>
            <a:chExt cx="8083" cy="2895"/>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Planed 1</a:t>
              </a:r>
            </a:p>
          </p:txBody>
        </p:sp>
        <p:sp>
          <p:nvSpPr>
            <p:cNvPr id="238" name="文本框 237"/>
            <p:cNvSpPr txBox="1"/>
            <p:nvPr>
              <p:custDataLst>
                <p:tags r:id="rId3"/>
              </p:custDataLst>
            </p:nvPr>
          </p:nvSpPr>
          <p:spPr>
            <a:xfrm>
              <a:off x="839" y="2323"/>
              <a:ext cx="8083" cy="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600" dirty="0">
                  <a:hlinkClick r:id="rId6"/>
                </a:rPr>
                <a:t>Study Plan (qq.com)</a:t>
              </a:r>
              <a:r>
                <a:rPr lang="en-US" altLang="zh-CN" sz="1600" dirty="0"/>
                <a:t> </a:t>
              </a:r>
              <a:r>
                <a:rPr lang="en-US" altLang="zh-CN" sz="1600" dirty="0" err="1"/>
                <a:t>Finsih</a:t>
              </a:r>
              <a:r>
                <a:rPr lang="en-US" altLang="zh-CN" sz="1600" dirty="0"/>
                <a:t> the first plan</a:t>
              </a:r>
            </a:p>
            <a:p>
              <a:pPr marL="285750" indent="-285750">
                <a:buClr>
                  <a:srgbClr val="00B0F0"/>
                </a:buClr>
                <a:buFont typeface="Wingdings" panose="05000000000000000000" charset="0"/>
                <a:buChar char="u"/>
              </a:pPr>
              <a:r>
                <a:rPr lang="en-US" altLang="zh-CN" sz="1600" dirty="0" err="1">
                  <a:solidFill>
                    <a:schemeClr val="tx1"/>
                  </a:solidFill>
                  <a:latin typeface="Palatino Linotype" panose="02040502050505030304" charset="0"/>
                  <a:cs typeface="Palatino Linotype" panose="02040502050505030304" charset="0"/>
                  <a:sym typeface="+mn-ea"/>
                </a:rPr>
                <a:t>Finsh</a:t>
              </a:r>
              <a:r>
                <a:rPr lang="en-US" altLang="zh-CN" sz="1600" dirty="0">
                  <a:solidFill>
                    <a:schemeClr val="tx1"/>
                  </a:solidFill>
                  <a:latin typeface="Palatino Linotype" panose="02040502050505030304" charset="0"/>
                  <a:cs typeface="Palatino Linotype" panose="02040502050505030304" charset="0"/>
                  <a:sym typeface="+mn-ea"/>
                </a:rPr>
                <a:t> the project3</a:t>
              </a:r>
            </a:p>
            <a:p>
              <a:pPr marL="285750" indent="-285750">
                <a:buClr>
                  <a:srgbClr val="00B0F0"/>
                </a:buClr>
                <a:buFont typeface="Wingdings" panose="05000000000000000000" charset="0"/>
                <a:buChar char="u"/>
              </a:pPr>
              <a:r>
                <a:rPr lang="en-US" altLang="zh-CN" sz="1600" dirty="0">
                  <a:solidFill>
                    <a:schemeClr val="tx1"/>
                  </a:solidFill>
                  <a:latin typeface="Palatino Linotype" panose="02040502050505030304" charset="0"/>
                  <a:cs typeface="Palatino Linotype" panose="02040502050505030304" charset="0"/>
                  <a:sym typeface="+mn-ea"/>
                </a:rPr>
                <a:t>Study markdown and how to use git</a:t>
              </a: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Results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14952" y="1153160"/>
            <a:ext cx="5132705" cy="2275840"/>
            <a:chOff x="839" y="1816"/>
            <a:chExt cx="8083" cy="3584"/>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Results 1</a:t>
              </a:r>
            </a:p>
          </p:txBody>
        </p:sp>
        <p:sp>
          <p:nvSpPr>
            <p:cNvPr id="238" name="文本框 237"/>
            <p:cNvSpPr txBox="1"/>
            <p:nvPr>
              <p:custDataLst>
                <p:tags r:id="rId3"/>
              </p:custDataLst>
            </p:nvPr>
          </p:nvSpPr>
          <p:spPr>
            <a:xfrm>
              <a:off x="839" y="2401"/>
              <a:ext cx="8083" cy="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Have learned the first three blog . </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planed to learn to use git after finishing the project3 , but I am still studying to write the </a:t>
              </a:r>
              <a:r>
                <a:rPr lang="en-US" altLang="zh-CN" sz="1700" dirty="0" err="1">
                  <a:solidFill>
                    <a:schemeClr val="tx1"/>
                  </a:solidFill>
                  <a:latin typeface="Palatino Linotype" panose="02040502050505030304" charset="0"/>
                  <a:cs typeface="Palatino Linotype" panose="02040502050505030304" charset="0"/>
                  <a:sym typeface="+mn-ea"/>
                </a:rPr>
                <a:t>shellCodeGenerator</a:t>
              </a:r>
              <a:r>
                <a:rPr lang="en-US" altLang="zh-CN" sz="1700" dirty="0">
                  <a:solidFill>
                    <a:schemeClr val="tx1"/>
                  </a:solidFill>
                  <a:latin typeface="Palatino Linotype" panose="02040502050505030304" charset="0"/>
                  <a:cs typeface="Palatino Linotype" panose="02040502050505030304" charset="0"/>
                  <a:sym typeface="+mn-ea"/>
                </a:rPr>
                <a:t>.</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1898015"/>
            <a:chOff x="839" y="1816"/>
            <a:chExt cx="8083" cy="2989"/>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1</a:t>
              </a:r>
            </a:p>
          </p:txBody>
        </p:sp>
        <p:sp>
          <p:nvSpPr>
            <p:cNvPr id="238" name="文本框 237"/>
            <p:cNvSpPr txBox="1"/>
            <p:nvPr>
              <p:custDataLst>
                <p:tags r:id="rId3"/>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While code is compiling, the constants declared in code will be loaded into the constant area , right? So why I can’t use the constants?</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The main reason is for code portability , right?</a:t>
              </a: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5" name="图片 4"/>
          <p:cNvPicPr>
            <a:picLocks noChangeAspect="1"/>
          </p:cNvPicPr>
          <p:nvPr/>
        </p:nvPicPr>
        <p:blipFill>
          <a:blip r:embed="rId6"/>
          <a:stretch>
            <a:fillRect/>
          </a:stretch>
        </p:blipFill>
        <p:spPr>
          <a:xfrm>
            <a:off x="3868419" y="3586477"/>
            <a:ext cx="8055611" cy="6708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2</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88315" y="1153160"/>
            <a:ext cx="5132705" cy="1947545"/>
            <a:chOff x="769" y="1816"/>
            <a:chExt cx="8083" cy="3067"/>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2</a:t>
              </a:r>
            </a:p>
          </p:txBody>
        </p:sp>
        <p:sp>
          <p:nvSpPr>
            <p:cNvPr id="238" name="文本框 237"/>
            <p:cNvSpPr txBox="1"/>
            <p:nvPr>
              <p:custDataLst>
                <p:tags r:id="rId3"/>
              </p:custDataLst>
            </p:nvPr>
          </p:nvSpPr>
          <p:spPr>
            <a:xfrm>
              <a:off x="769"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The .text contains source code before inserting shellcode , why the write encrypt this piece of code?</a:t>
              </a: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4" name="图片 3"/>
          <p:cNvPicPr>
            <a:picLocks noChangeAspect="1"/>
          </p:cNvPicPr>
          <p:nvPr/>
        </p:nvPicPr>
        <p:blipFill>
          <a:blip r:embed="rId6"/>
          <a:stretch>
            <a:fillRect/>
          </a:stretch>
        </p:blipFill>
        <p:spPr>
          <a:xfrm>
            <a:off x="6525491" y="2233612"/>
            <a:ext cx="5414096" cy="10499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91210"/>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3</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88315" y="1153160"/>
            <a:ext cx="5132705" cy="1947545"/>
            <a:chOff x="769" y="1816"/>
            <a:chExt cx="8083" cy="3067"/>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3"/>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3</a:t>
              </a:r>
            </a:p>
          </p:txBody>
        </p:sp>
        <p:sp>
          <p:nvSpPr>
            <p:cNvPr id="238" name="文本框 237"/>
            <p:cNvSpPr txBox="1"/>
            <p:nvPr>
              <p:custDataLst>
                <p:tags r:id="rId4"/>
              </p:custDataLst>
            </p:nvPr>
          </p:nvSpPr>
          <p:spPr>
            <a:xfrm>
              <a:off x="769"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Just a little condusion , the calculation of RVA is to alignment memory , but why the operation ‘&amp;’ is used?  Can I just write “</a:t>
              </a:r>
              <a:r>
                <a:rPr lang="en-US" altLang="zh-CN" sz="1800" dirty="0" err="1">
                  <a:solidFill>
                    <a:srgbClr val="2B91AF"/>
                  </a:solidFill>
                  <a:latin typeface="新宋体" panose="02010609030101010101" pitchFamily="49" charset="-122"/>
                  <a:ea typeface="新宋体" panose="02010609030101010101" pitchFamily="49" charset="-122"/>
                </a:rPr>
                <a:t>size_t</a:t>
              </a:r>
              <a:r>
                <a:rPr lang="en-US" altLang="zh-CN" sz="1800" dirty="0">
                  <a:solidFill>
                    <a:srgbClr val="000000"/>
                  </a:solidFill>
                  <a:latin typeface="新宋体" panose="02010609030101010101" pitchFamily="49" charset="-122"/>
                  <a:ea typeface="新宋体" panose="02010609030101010101" pitchFamily="49" charset="-122"/>
                </a:rPr>
                <a:t> RVA = </a:t>
              </a:r>
              <a:r>
                <a:rPr lang="en-US" altLang="zh-CN" sz="1800" dirty="0" err="1">
                  <a:solidFill>
                    <a:srgbClr val="000000"/>
                  </a:solidFill>
                  <a:latin typeface="新宋体" panose="02010609030101010101" pitchFamily="49" charset="-122"/>
                  <a:ea typeface="新宋体" panose="02010609030101010101" pitchFamily="49" charset="-122"/>
                </a:rPr>
                <a:t>pSecHeader</a:t>
              </a:r>
              <a:r>
                <a:rPr lang="en-US" altLang="zh-CN" sz="1800" dirty="0">
                  <a:solidFill>
                    <a:srgbClr val="000000"/>
                  </a:solidFill>
                  <a:latin typeface="新宋体" panose="02010609030101010101" pitchFamily="49" charset="-122"/>
                  <a:ea typeface="新宋体" panose="02010609030101010101" pitchFamily="49" charset="-122"/>
                </a:rPr>
                <a:t>[</a:t>
              </a:r>
              <a:r>
                <a:rPr lang="en-US" altLang="zh-CN" sz="1800" dirty="0" err="1">
                  <a:solidFill>
                    <a:srgbClr val="000000"/>
                  </a:solidFill>
                  <a:latin typeface="新宋体" panose="02010609030101010101" pitchFamily="49" charset="-122"/>
                  <a:ea typeface="新宋体" panose="02010609030101010101" pitchFamily="49" charset="-122"/>
                </a:rPr>
                <a:t>secCount</a:t>
              </a:r>
              <a:r>
                <a:rPr lang="en-US" altLang="zh-CN" sz="1800" dirty="0">
                  <a:solidFill>
                    <a:srgbClr val="000000"/>
                  </a:solidFill>
                  <a:latin typeface="新宋体" panose="02010609030101010101" pitchFamily="49" charset="-122"/>
                  <a:ea typeface="新宋体" panose="02010609030101010101" pitchFamily="49" charset="-122"/>
                </a:rPr>
                <a:t> - 1].</a:t>
              </a:r>
              <a:r>
                <a:rPr lang="en-US" altLang="zh-CN" sz="1800" dirty="0" err="1">
                  <a:solidFill>
                    <a:srgbClr val="000000"/>
                  </a:solidFill>
                  <a:latin typeface="新宋体" panose="02010609030101010101" pitchFamily="49" charset="-122"/>
                  <a:ea typeface="新宋体" panose="02010609030101010101" pitchFamily="49" charset="-122"/>
                </a:rPr>
                <a:t>VirtualAddress</a:t>
              </a:r>
              <a:r>
                <a:rPr lang="en-US" altLang="zh-CN" sz="1800" dirty="0">
                  <a:solidFill>
                    <a:srgbClr val="000000"/>
                  </a:solidFill>
                  <a:latin typeface="新宋体" panose="02010609030101010101" pitchFamily="49" charset="-122"/>
                  <a:ea typeface="新宋体" panose="02010609030101010101" pitchFamily="49" charset="-122"/>
                </a:rPr>
                <a:t> + 0x1000;</a:t>
              </a:r>
              <a:r>
                <a:rPr lang="en-US" altLang="zh-CN" sz="1700" dirty="0">
                  <a:solidFill>
                    <a:schemeClr val="tx1"/>
                  </a:solidFill>
                  <a:latin typeface="Palatino Linotype" panose="02040502050505030304" charset="0"/>
                  <a:cs typeface="Palatino Linotype" panose="02040502050505030304" charset="0"/>
                  <a:sym typeface="+mn-ea"/>
                </a:rPr>
                <a:t>” ?</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3" name="图片 2"/>
          <p:cNvPicPr>
            <a:picLocks noChangeAspect="1"/>
          </p:cNvPicPr>
          <p:nvPr>
            <p:custDataLst>
              <p:tags r:id="rId1"/>
            </p:custDataLst>
          </p:nvPr>
        </p:nvPicPr>
        <p:blipFill>
          <a:blip r:embed="rId7"/>
          <a:stretch>
            <a:fillRect/>
          </a:stretch>
        </p:blipFill>
        <p:spPr>
          <a:xfrm>
            <a:off x="4682490" y="4330065"/>
            <a:ext cx="7241540" cy="6680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gn="ctr">
              <a:lnSpc>
                <a:spcPct val="130000"/>
              </a:lnSpc>
              <a:spcBef>
                <a:spcPts val="600"/>
              </a:spcBef>
            </a:pPr>
            <a:r>
              <a:rPr lang="en-US" altLang="zh-CN" sz="3500" b="1" dirty="0">
                <a:solidFill>
                  <a:srgbClr val="005CA2"/>
                </a:solidFill>
                <a:latin typeface="Arial" panose="020B0604020202020204" pitchFamily="34" charset="0"/>
                <a:cs typeface="Arial" panose="020B0604020202020204" pitchFamily="34" charset="0"/>
                <a:sym typeface="+mn-lt"/>
              </a:rPr>
              <a:t>4</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82377" y="993808"/>
            <a:ext cx="5132705" cy="3536628"/>
            <a:chOff x="769" y="1537"/>
            <a:chExt cx="8083" cy="3346"/>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537"/>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4</a:t>
              </a:r>
            </a:p>
          </p:txBody>
        </p:sp>
        <p:sp>
          <p:nvSpPr>
            <p:cNvPr id="238" name="文本框 237"/>
            <p:cNvSpPr txBox="1"/>
            <p:nvPr>
              <p:custDataLst>
                <p:tags r:id="rId3"/>
              </p:custDataLst>
            </p:nvPr>
          </p:nvSpPr>
          <p:spPr>
            <a:xfrm>
              <a:off x="769" y="2401"/>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It is difficult for me to describe the question so I will explain this question in Chinese.</a:t>
              </a:r>
            </a:p>
            <a:p>
              <a:pPr marL="285750" indent="-285750">
                <a:buClr>
                  <a:srgbClr val="00B0F0"/>
                </a:buClr>
                <a:buFont typeface="Wingdings" panose="05000000000000000000" charset="0"/>
                <a:buChar char="u"/>
              </a:pPr>
              <a:r>
                <a:rPr lang="zh-CN" altLang="en-US" sz="1700" dirty="0">
                  <a:solidFill>
                    <a:schemeClr val="tx1"/>
                  </a:solidFill>
                  <a:latin typeface="Palatino Linotype" panose="02040502050505030304" charset="0"/>
                  <a:cs typeface="Palatino Linotype" panose="02040502050505030304" charset="0"/>
                  <a:sym typeface="+mn-ea"/>
                </a:rPr>
                <a:t>我当时想测试一下能不能直接把</a:t>
              </a:r>
              <a:r>
                <a:rPr lang="en-US" altLang="zh-CN" sz="1700" dirty="0">
                  <a:solidFill>
                    <a:schemeClr val="tx1"/>
                  </a:solidFill>
                  <a:latin typeface="Palatino Linotype" panose="02040502050505030304" charset="0"/>
                  <a:cs typeface="Palatino Linotype" panose="02040502050505030304" charset="0"/>
                  <a:sym typeface="+mn-ea"/>
                </a:rPr>
                <a:t>print</a:t>
              </a:r>
              <a:r>
                <a:rPr lang="zh-CN" altLang="en-US" sz="1700" dirty="0">
                  <a:solidFill>
                    <a:schemeClr val="tx1"/>
                  </a:solidFill>
                  <a:latin typeface="Palatino Linotype" panose="02040502050505030304" charset="0"/>
                  <a:cs typeface="Palatino Linotype" panose="02040502050505030304" charset="0"/>
                  <a:sym typeface="+mn-ea"/>
                </a:rPr>
                <a:t>这个函数变成二进制代码直接插入到我新增的</a:t>
              </a:r>
              <a:r>
                <a:rPr lang="en-US" altLang="zh-CN" sz="1700" dirty="0">
                  <a:solidFill>
                    <a:schemeClr val="tx1"/>
                  </a:solidFill>
                  <a:latin typeface="Palatino Linotype" panose="02040502050505030304" charset="0"/>
                  <a:cs typeface="Palatino Linotype" panose="02040502050505030304" charset="0"/>
                  <a:sym typeface="+mn-ea"/>
                </a:rPr>
                <a:t>.shell</a:t>
              </a:r>
              <a:r>
                <a:rPr lang="zh-CN" altLang="en-US" sz="1700" dirty="0">
                  <a:solidFill>
                    <a:schemeClr val="tx1"/>
                  </a:solidFill>
                  <a:latin typeface="Palatino Linotype" panose="02040502050505030304" charset="0"/>
                  <a:cs typeface="Palatino Linotype" panose="02040502050505030304" charset="0"/>
                  <a:sym typeface="+mn-ea"/>
                </a:rPr>
                <a:t>节点中，可以插入，但是后面有一部分变成汇编语言后</a:t>
              </a:r>
              <a:r>
                <a:rPr lang="en-US" altLang="zh-CN" sz="1700" dirty="0" err="1">
                  <a:solidFill>
                    <a:schemeClr val="tx1"/>
                  </a:solidFill>
                  <a:latin typeface="Palatino Linotype" panose="02040502050505030304" charset="0"/>
                  <a:cs typeface="Palatino Linotype" panose="02040502050505030304" charset="0"/>
                  <a:sym typeface="+mn-ea"/>
                </a:rPr>
                <a:t>jmp</a:t>
              </a:r>
              <a:r>
                <a:rPr lang="zh-CN" altLang="en-US" sz="1700" dirty="0">
                  <a:solidFill>
                    <a:schemeClr val="tx1"/>
                  </a:solidFill>
                  <a:latin typeface="Palatino Linotype" panose="02040502050505030304" charset="0"/>
                  <a:cs typeface="Palatino Linotype" panose="02040502050505030304" charset="0"/>
                  <a:sym typeface="+mn-ea"/>
                </a:rPr>
                <a:t>到了无法访问的地方，于是这个加壳后的程序最终无法运行。我猜测是这里的</a:t>
              </a:r>
              <a:r>
                <a:rPr lang="en-US" altLang="zh-CN" sz="1700" dirty="0" err="1">
                  <a:solidFill>
                    <a:schemeClr val="tx1"/>
                  </a:solidFill>
                  <a:latin typeface="Palatino Linotype" panose="02040502050505030304" charset="0"/>
                  <a:cs typeface="Palatino Linotype" panose="02040502050505030304" charset="0"/>
                  <a:sym typeface="+mn-ea"/>
                </a:rPr>
                <a:t>printf</a:t>
              </a:r>
              <a:r>
                <a:rPr lang="zh-CN" altLang="en-US" sz="1700" dirty="0">
                  <a:solidFill>
                    <a:schemeClr val="tx1"/>
                  </a:solidFill>
                  <a:latin typeface="Palatino Linotype" panose="02040502050505030304" charset="0"/>
                  <a:cs typeface="Palatino Linotype" panose="02040502050505030304" charset="0"/>
                  <a:sym typeface="+mn-ea"/>
                </a:rPr>
                <a:t>函数需要调用的函数库的位置问题。</a:t>
              </a: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600" dirty="0">
                  <a:hlinkClick r:id="rId6"/>
                </a:rPr>
                <a:t>【Windows】</a:t>
              </a:r>
              <a:r>
                <a:rPr lang="zh-CN" altLang="en-US" sz="1600" dirty="0">
                  <a:hlinkClick r:id="rId6"/>
                </a:rPr>
                <a:t>从零开始写一个加密壳</a:t>
              </a:r>
              <a:r>
                <a:rPr lang="en-US" altLang="zh-CN" sz="1600" dirty="0">
                  <a:hlinkClick r:id="rId6"/>
                </a:rPr>
                <a:t>_</a:t>
              </a:r>
              <a:r>
                <a:rPr lang="zh-CN" altLang="en-US" sz="1600" dirty="0">
                  <a:hlinkClick r:id="rId6"/>
                </a:rPr>
                <a:t>编写一个简单的加密壳</a:t>
              </a:r>
              <a:r>
                <a:rPr lang="en-US" altLang="zh-CN" sz="1600" dirty="0">
                  <a:hlinkClick r:id="rId6"/>
                </a:rPr>
                <a:t>_</a:t>
              </a:r>
              <a:r>
                <a:rPr lang="zh-CN" altLang="en-US" sz="1600" dirty="0">
                  <a:hlinkClick r:id="rId6"/>
                </a:rPr>
                <a:t>古月浪子的博客</a:t>
              </a:r>
              <a:r>
                <a:rPr lang="en-US" altLang="zh-CN" sz="1600" dirty="0">
                  <a:hlinkClick r:id="rId6"/>
                </a:rPr>
                <a:t>-CSDN</a:t>
              </a:r>
              <a:r>
                <a:rPr lang="zh-CN" altLang="en-US" sz="1600" dirty="0">
                  <a:hlinkClick r:id="rId6"/>
                </a:rPr>
                <a:t>博客</a:t>
              </a:r>
              <a:r>
                <a:rPr lang="zh-CN" altLang="en-US" sz="1600" dirty="0"/>
                <a:t> </a:t>
              </a:r>
              <a:endParaRPr lang="en-US" altLang="zh-CN" sz="1600" dirty="0"/>
            </a:p>
            <a:p>
              <a:pPr marL="285750" indent="-285750">
                <a:buClr>
                  <a:srgbClr val="00B0F0"/>
                </a:buClr>
                <a:buFont typeface="Wingdings" panose="05000000000000000000" charset="0"/>
                <a:buChar char="u"/>
              </a:pPr>
              <a:r>
                <a:rPr lang="zh-CN" altLang="en-US" sz="1700" dirty="0">
                  <a:solidFill>
                    <a:schemeClr val="tx1"/>
                  </a:solidFill>
                  <a:latin typeface="Palatino Linotype" panose="02040502050505030304" charset="0"/>
                </a:rPr>
                <a:t>在上面那篇博客中，它说是不能有常量区的数据和导入数据的函数供我们使用，为什么？那么这样的话壳的作用不久变小了吗？或者说可以自己写一个函数库再往原程序后面加上一个节点放这个函数库，要用函数的时候</a:t>
              </a:r>
              <a:r>
                <a:rPr lang="en-US" altLang="zh-CN" sz="1700" dirty="0" err="1">
                  <a:solidFill>
                    <a:schemeClr val="tx1"/>
                  </a:solidFill>
                  <a:latin typeface="Palatino Linotype" panose="02040502050505030304" charset="0"/>
                </a:rPr>
                <a:t>jmp</a:t>
              </a:r>
              <a:r>
                <a:rPr lang="zh-CN" altLang="en-US" sz="1700" dirty="0">
                  <a:solidFill>
                    <a:schemeClr val="tx1"/>
                  </a:solidFill>
                  <a:latin typeface="Palatino Linotype" panose="02040502050505030304" charset="0"/>
                </a:rPr>
                <a:t>过去就行了？</a:t>
              </a:r>
              <a:endParaRPr lang="en-US" altLang="zh-CN" sz="1700" dirty="0">
                <a:solidFill>
                  <a:schemeClr val="tx1"/>
                </a:solidFill>
                <a:latin typeface="Palatino Linotype" panose="02040502050505030304" charset="0"/>
              </a:endParaRP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4" name="图片 3">
            <a:extLst>
              <a:ext uri="{FF2B5EF4-FFF2-40B4-BE49-F238E27FC236}">
                <a16:creationId xmlns:a16="http://schemas.microsoft.com/office/drawing/2014/main" id="{4D8FD5EE-A39D-ABD6-0704-76507436CF16}"/>
              </a:ext>
            </a:extLst>
          </p:cNvPr>
          <p:cNvPicPr>
            <a:picLocks noChangeAspect="1"/>
          </p:cNvPicPr>
          <p:nvPr/>
        </p:nvPicPr>
        <p:blipFill>
          <a:blip r:embed="rId7"/>
          <a:stretch>
            <a:fillRect/>
          </a:stretch>
        </p:blipFill>
        <p:spPr>
          <a:xfrm>
            <a:off x="7885216" y="0"/>
            <a:ext cx="4167660" cy="3752603"/>
          </a:xfrm>
          <a:prstGeom prst="rect">
            <a:avLst/>
          </a:prstGeom>
        </p:spPr>
      </p:pic>
      <p:pic>
        <p:nvPicPr>
          <p:cNvPr id="8" name="图片 7">
            <a:extLst>
              <a:ext uri="{FF2B5EF4-FFF2-40B4-BE49-F238E27FC236}">
                <a16:creationId xmlns:a16="http://schemas.microsoft.com/office/drawing/2014/main" id="{90DC13A2-43F1-3F03-030C-ABD333CCBF9A}"/>
              </a:ext>
            </a:extLst>
          </p:cNvPr>
          <p:cNvPicPr>
            <a:picLocks noChangeAspect="1"/>
          </p:cNvPicPr>
          <p:nvPr/>
        </p:nvPicPr>
        <p:blipFill>
          <a:blip r:embed="rId8"/>
          <a:stretch>
            <a:fillRect/>
          </a:stretch>
        </p:blipFill>
        <p:spPr>
          <a:xfrm>
            <a:off x="7653646" y="3752603"/>
            <a:ext cx="3524800" cy="2891642"/>
          </a:xfrm>
          <a:prstGeom prst="rect">
            <a:avLst/>
          </a:prstGeom>
        </p:spPr>
      </p:pic>
      <p:pic>
        <p:nvPicPr>
          <p:cNvPr id="10" name="图片 9">
            <a:extLst>
              <a:ext uri="{FF2B5EF4-FFF2-40B4-BE49-F238E27FC236}">
                <a16:creationId xmlns:a16="http://schemas.microsoft.com/office/drawing/2014/main" id="{89435AA2-405D-2C7D-0AE3-3DC3689FB4DD}"/>
              </a:ext>
            </a:extLst>
          </p:cNvPr>
          <p:cNvPicPr>
            <a:picLocks noChangeAspect="1"/>
          </p:cNvPicPr>
          <p:nvPr/>
        </p:nvPicPr>
        <p:blipFill>
          <a:blip r:embed="rId9"/>
          <a:stretch>
            <a:fillRect/>
          </a:stretch>
        </p:blipFill>
        <p:spPr>
          <a:xfrm>
            <a:off x="526827" y="5817103"/>
            <a:ext cx="6325622" cy="7196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Plan</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88315" y="1153160"/>
            <a:ext cx="5132705" cy="2664460"/>
            <a:chOff x="769" y="1816"/>
            <a:chExt cx="8083" cy="4196"/>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plan 1</a:t>
              </a:r>
            </a:p>
          </p:txBody>
        </p:sp>
        <p:sp>
          <p:nvSpPr>
            <p:cNvPr id="238" name="文本框 237"/>
            <p:cNvSpPr txBox="1"/>
            <p:nvPr>
              <p:custDataLst>
                <p:tags r:id="rId3"/>
              </p:custDataLst>
            </p:nvPr>
          </p:nvSpPr>
          <p:spPr>
            <a:xfrm>
              <a:off x="769" y="2181"/>
              <a:ext cx="8083" cy="3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plan to be clear about how to write shellcode , so I want to not only read these blogs but also finish some shellcode by </a:t>
              </a:r>
              <a:r>
                <a:rPr lang="en-US" altLang="zh-CN" sz="1700" dirty="0" err="1">
                  <a:solidFill>
                    <a:schemeClr val="tx1"/>
                  </a:solidFill>
                  <a:latin typeface="Palatino Linotype" panose="02040502050505030304" charset="0"/>
                  <a:cs typeface="Palatino Linotype" panose="02040502050505030304" charset="0"/>
                  <a:sym typeface="+mn-ea"/>
                </a:rPr>
                <a:t>meself</a:t>
              </a:r>
              <a:r>
                <a:rPr lang="en-US" altLang="zh-CN" sz="1700" dirty="0">
                  <a:solidFill>
                    <a:schemeClr val="tx1"/>
                  </a:solidFill>
                  <a:latin typeface="Palatino Linotype" panose="02040502050505030304" charset="0"/>
                  <a:cs typeface="Palatino Linotype" panose="02040502050505030304" charset="0"/>
                  <a:sym typeface="+mn-ea"/>
                </a:rPr>
                <a:t> step by step  after finishing project3.</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decide to give myself another week for shellcode study.</a:t>
              </a: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ViYjA4YjczODZkNzY4ZmRmNjg2ZmVlYjE2OGMwNTAifQ=="/>
  <p:tag name="KSO_WPP_MARK_KEY" val="e6c85fa1-cd61-4d87-b6eb-0c65704176e6"/>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TotalTime>
  <Words>444</Words>
  <Application>Microsoft Office PowerPoint</Application>
  <PresentationFormat>宽屏</PresentationFormat>
  <Paragraphs>43</Paragraphs>
  <Slides>7</Slides>
  <Notes>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微软雅黑</vt:lpstr>
      <vt:lpstr>新宋体</vt:lpstr>
      <vt:lpstr>Arial</vt:lpstr>
      <vt:lpstr>Calibri</vt:lpstr>
      <vt:lpstr>Calibri Light</vt:lpstr>
      <vt:lpstr>Palatino Linotype</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Zhong, Fangtian</dc:creator>
  <cp:lastModifiedBy>钱 卓雲</cp:lastModifiedBy>
  <cp:revision>21</cp:revision>
  <dcterms:created xsi:type="dcterms:W3CDTF">2022-09-21T15:51:00Z</dcterms:created>
  <dcterms:modified xsi:type="dcterms:W3CDTF">2023-07-21T15:09:51Z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CC2C0F941B7A40BB95BC861408F20AFB_12</vt:lpwstr>
  </property>
  <property fmtid="{D5CDD505-2E9C-101B-9397-08002B2CF9AE}" pid="3" name="KSOProductBuildVer">
    <vt:lpwstr>2052-11.1.0.14309</vt:lpwstr>
  </property>
</Properties>
</file>