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423" r:id="rId2"/>
    <p:sldId id="424" r:id="rId3"/>
    <p:sldId id="430" r:id="rId4"/>
    <p:sldId id="425" r:id="rId5"/>
    <p:sldId id="428" r:id="rId6"/>
    <p:sldId id="429" r:id="rId7"/>
    <p:sldId id="427" r:id="rId8"/>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7"/>
    <p:restoredTop sz="96322"/>
  </p:normalViewPr>
  <p:slideViewPr>
    <p:cSldViewPr snapToGrid="0">
      <p:cViewPr>
        <p:scale>
          <a:sx n="107" d="100"/>
          <a:sy n="107" d="100"/>
        </p:scale>
        <p:origin x="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6D457-D595-D74A-B943-9BE89BF18156}" type="datetimeFigureOut">
              <a:rPr lang="en-US" smtClean="0"/>
              <a:t>6/7/2023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9FDB8-D5FC-364C-AEB4-B7B4513895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a:t>
            </a:fld>
            <a:endParaRPr lang="zh-CN" altLang="en-US"/>
          </a:p>
        </p:txBody>
      </p:sp>
    </p:spTree>
    <p:extLst>
      <p:ext uri="{BB962C8B-B14F-4D97-AF65-F5344CB8AC3E}">
        <p14:creationId xmlns:p14="http://schemas.microsoft.com/office/powerpoint/2010/main" val="1075899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5</a:t>
            </a:fld>
            <a:endParaRPr lang="zh-CN" altLang="en-US"/>
          </a:p>
        </p:txBody>
      </p:sp>
    </p:spTree>
    <p:extLst>
      <p:ext uri="{BB962C8B-B14F-4D97-AF65-F5344CB8AC3E}">
        <p14:creationId xmlns:p14="http://schemas.microsoft.com/office/powerpoint/2010/main" val="2157622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6</a:t>
            </a:fld>
            <a:endParaRPr lang="zh-CN" altLang="en-US"/>
          </a:p>
        </p:txBody>
      </p:sp>
    </p:spTree>
    <p:extLst>
      <p:ext uri="{BB962C8B-B14F-4D97-AF65-F5344CB8AC3E}">
        <p14:creationId xmlns:p14="http://schemas.microsoft.com/office/powerpoint/2010/main" val="679294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974146-AD47-D54A-ADAE-EACD76BE342A}" type="datetimeFigureOut">
              <a:rPr lang="en-US" smtClean="0"/>
              <a:t>6/7/2023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6/7/2023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74146-AD47-D54A-ADAE-EACD76BE342A}" type="datetimeFigureOut">
              <a:rPr lang="en-US" smtClean="0"/>
              <a:t>6/7/2023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974146-AD47-D54A-ADAE-EACD76BE342A}" type="datetimeFigureOut">
              <a:rPr lang="en-US" smtClean="0"/>
              <a:t>6/7/2023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974146-AD47-D54A-ADAE-EACD76BE342A}" type="datetimeFigureOut">
              <a:rPr lang="en-US" smtClean="0"/>
              <a:t>6/7/2023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974146-AD47-D54A-ADAE-EACD76BE342A}" type="datetimeFigureOut">
              <a:rPr lang="en-US" smtClean="0"/>
              <a:t>6/7/2023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74146-AD47-D54A-ADAE-EACD76BE342A}" type="datetimeFigureOut">
              <a:rPr lang="en-US" smtClean="0"/>
              <a:t>6/7/2023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6/7/2023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6/7/2023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6/7/2023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6/7/2023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grpSp>
        <p:nvGrpSpPr>
          <p:cNvPr id="5" name="组合 4"/>
          <p:cNvGrpSpPr/>
          <p:nvPr userDrawn="1"/>
        </p:nvGrpSpPr>
        <p:grpSpPr>
          <a:xfrm flipV="1">
            <a:off x="0" y="6487888"/>
            <a:ext cx="12192000" cy="370112"/>
            <a:chOff x="0" y="-40730"/>
            <a:chExt cx="12192000" cy="370112"/>
          </a:xfrm>
        </p:grpSpPr>
        <p:sp>
          <p:nvSpPr>
            <p:cNvPr id="6" name="矩形 5"/>
            <p:cNvSpPr/>
            <p:nvPr userDrawn="1"/>
          </p:nvSpPr>
          <p:spPr>
            <a:xfrm>
              <a:off x="0" y="-40730"/>
              <a:ext cx="12192000" cy="3701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7" name="矩形 6"/>
            <p:cNvSpPr/>
            <p:nvPr userDrawn="1"/>
          </p:nvSpPr>
          <p:spPr>
            <a:xfrm>
              <a:off x="0" y="-40730"/>
              <a:ext cx="12192000" cy="285614"/>
            </a:xfrm>
            <a:prstGeom prst="rect">
              <a:avLst/>
            </a:prstGeom>
            <a:solidFill>
              <a:srgbClr val="005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grpSp>
      <p:sp>
        <p:nvSpPr>
          <p:cNvPr id="96" name="菱形 95"/>
          <p:cNvSpPr/>
          <p:nvPr userDrawn="1"/>
        </p:nvSpPr>
        <p:spPr>
          <a:xfrm>
            <a:off x="600451" y="370197"/>
            <a:ext cx="372167" cy="372166"/>
          </a:xfrm>
          <a:prstGeom prst="diamond">
            <a:avLst/>
          </a:prstGeom>
          <a:solidFill>
            <a:schemeClr val="bg1">
              <a:lumMod val="85000"/>
            </a:schemeClr>
          </a:solidFill>
          <a:ln w="19050">
            <a:solidFill>
              <a:srgbClr val="005C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97" name="菱形 96"/>
          <p:cNvSpPr/>
          <p:nvPr userDrawn="1"/>
        </p:nvSpPr>
        <p:spPr>
          <a:xfrm>
            <a:off x="356797" y="312627"/>
            <a:ext cx="487308" cy="487307"/>
          </a:xfrm>
          <a:prstGeom prst="diamond">
            <a:avLst/>
          </a:prstGeom>
          <a:solidFill>
            <a:srgbClr val="005CA2"/>
          </a:solidFill>
          <a:ln>
            <a:solidFill>
              <a:srgbClr val="004E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3" name="内容占位符 2"/>
          <p:cNvSpPr>
            <a:spLocks noGrp="1"/>
          </p:cNvSpPr>
          <p:nvPr>
            <p:ph sz="quarter" idx="10" hasCustomPrompt="1"/>
          </p:nvPr>
        </p:nvSpPr>
        <p:spPr>
          <a:xfrm>
            <a:off x="1078230" y="357505"/>
            <a:ext cx="5685155" cy="441960"/>
          </a:xfrm>
          <a:prstGeom prst="rect">
            <a:avLst/>
          </a:prstGeom>
        </p:spPr>
        <p:txBody>
          <a:bodyPr/>
          <a:lstStyle>
            <a:lvl1pPr marL="0" indent="0">
              <a:buNone/>
              <a:defRPr b="1">
                <a:solidFill>
                  <a:srgbClr val="005CA2"/>
                </a:solidFill>
                <a:latin typeface="微软雅黑" panose="020B0503020204020204" charset="-122"/>
                <a:ea typeface="微软雅黑" panose="020B0503020204020204" charset="-122"/>
              </a:defRPr>
            </a:lvl1pPr>
            <a:lvl2pPr marL="457200" indent="0">
              <a:buNone/>
              <a:defRPr b="1">
                <a:solidFill>
                  <a:schemeClr val="accent1"/>
                </a:solidFill>
                <a:latin typeface="+mj-ea"/>
                <a:ea typeface="+mj-ea"/>
              </a:defRPr>
            </a:lvl2pPr>
          </a:lstStyle>
          <a:p>
            <a:pPr lvl="0"/>
            <a:r>
              <a:rPr lang="zh-CN" altLang="en-US" dirty="0"/>
              <a:t>编辑母版文本样式</a:t>
            </a: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74146-AD47-D54A-ADAE-EACD76BE342A}" type="datetimeFigureOut">
              <a:rPr lang="en-US" smtClean="0"/>
              <a:t>6/7/2023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2251F9-74DE-384F-8BBE-4068C9F0724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notesSlide" Target="../notesSlides/notesSlide2.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notesSlide" Target="../notesSlides/notesSlide3.xml"/><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notesSlide" Target="../notesSlides/notesSlide4.xml"/><Relationship Id="rId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1.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hyperlink" Target="https://www.geeksforgeeks.org/general-purpose-registers/" TargetMode="External"/><Relationship Id="rId5" Type="http://schemas.openxmlformats.org/officeDocument/2006/relationships/notesSlide" Target="../notesSlides/notesSlide5.xml"/><Relationship Id="rId4"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6.xml"/><Relationship Id="rId4"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notesSlide" Target="../notesSlides/notesSlide7.xml"/><Relationship Id="rId4"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Planed</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38325"/>
            <a:chOff x="839" y="1816"/>
            <a:chExt cx="8083" cy="2895"/>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Planed 1</a:t>
              </a:r>
            </a:p>
          </p:txBody>
        </p:sp>
        <p:sp>
          <p:nvSpPr>
            <p:cNvPr id="238" name="文本框 237"/>
            <p:cNvSpPr txBox="1"/>
            <p:nvPr>
              <p:custDataLst>
                <p:tags r:id="rId3"/>
              </p:custDataLst>
            </p:nvPr>
          </p:nvSpPr>
          <p:spPr>
            <a:xfrm>
              <a:off x="839" y="2323"/>
              <a:ext cx="8083" cy="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Make a plan to study Assembly Language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Learn basic syntax of Assembly Language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Finish the environment setup(download Linux)</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Have a  general idea of how registers work</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26827" y="1153160"/>
            <a:ext cx="5132705" cy="2275840"/>
            <a:chOff x="839" y="1816"/>
            <a:chExt cx="8083" cy="3584"/>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1</a:t>
              </a:r>
            </a:p>
          </p:txBody>
        </p:sp>
        <p:sp>
          <p:nvSpPr>
            <p:cNvPr id="238" name="文本框 237"/>
            <p:cNvSpPr txBox="1"/>
            <p:nvPr>
              <p:custDataLst>
                <p:tags r:id="rId3"/>
              </p:custDataLst>
            </p:nvPr>
          </p:nvSpPr>
          <p:spPr>
            <a:xfrm>
              <a:off x="839" y="2401"/>
              <a:ext cx="8083" cy="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Angrily , failed to download the Linux.</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Because of the sports meeting , sadly , </a:t>
              </a:r>
              <a:r>
                <a:rPr lang="en-US" altLang="zh-CN" sz="1700" dirty="0" err="1">
                  <a:solidFill>
                    <a:schemeClr val="tx1"/>
                  </a:solidFill>
                  <a:latin typeface="Palatino Linotype" panose="02040502050505030304" charset="0"/>
                  <a:cs typeface="Palatino Linotype" panose="02040502050505030304" charset="0"/>
                  <a:sym typeface="+mn-ea"/>
                </a:rPr>
                <a:t>i</a:t>
              </a:r>
              <a:r>
                <a:rPr lang="en-US" altLang="zh-CN" sz="1700" dirty="0">
                  <a:solidFill>
                    <a:schemeClr val="tx1"/>
                  </a:solidFill>
                  <a:latin typeface="Palatino Linotype" panose="02040502050505030304" charset="0"/>
                  <a:cs typeface="Palatino Linotype" panose="02040502050505030304" charset="0"/>
                  <a:sym typeface="+mn-ea"/>
                </a:rPr>
                <a:t> am so busy that just learned a little about how CPU works and the basic syntax of Assembly Language.</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question</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38325"/>
            <a:chOff x="839" y="1816"/>
            <a:chExt cx="8083" cy="2895"/>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question</a:t>
              </a:r>
            </a:p>
          </p:txBody>
        </p:sp>
        <p:sp>
          <p:nvSpPr>
            <p:cNvPr id="238" name="文本框 237"/>
            <p:cNvSpPr txBox="1"/>
            <p:nvPr>
              <p:custDataLst>
                <p:tags r:id="rId3"/>
              </p:custDataLst>
            </p:nvPr>
          </p:nvSpPr>
          <p:spPr>
            <a:xfrm>
              <a:off x="839" y="2323"/>
              <a:ext cx="8083" cy="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You said that I should add my  study notes to my </a:t>
              </a:r>
              <a:r>
                <a:rPr lang="en-US" altLang="zh-CN" sz="1700" dirty="0" err="1">
                  <a:solidFill>
                    <a:schemeClr val="tx1"/>
                  </a:solidFill>
                  <a:latin typeface="Palatino Linotype" panose="02040502050505030304" charset="0"/>
                  <a:cs typeface="Palatino Linotype" panose="02040502050505030304" charset="0"/>
                  <a:sym typeface="+mn-ea"/>
                </a:rPr>
                <a:t>powerpoint</a:t>
              </a:r>
              <a:r>
                <a:rPr lang="en-US" altLang="zh-CN" sz="1700" dirty="0">
                  <a:solidFill>
                    <a:schemeClr val="tx1"/>
                  </a:solidFill>
                  <a:latin typeface="Palatino Linotype" panose="02040502050505030304" charset="0"/>
                  <a:cs typeface="Palatino Linotype" panose="02040502050505030304" charset="0"/>
                  <a:sym typeface="+mn-ea"/>
                </a:rPr>
                <a:t> , I prefer to use </a:t>
              </a:r>
              <a:r>
                <a:rPr lang="en-US" altLang="zh-CN" sz="1700" dirty="0" err="1">
                  <a:solidFill>
                    <a:schemeClr val="tx1"/>
                  </a:solidFill>
                  <a:latin typeface="Palatino Linotype" panose="02040502050505030304" charset="0"/>
                  <a:cs typeface="Palatino Linotype" panose="02040502050505030304" charset="0"/>
                  <a:sym typeface="+mn-ea"/>
                </a:rPr>
                <a:t>Typora</a:t>
              </a:r>
              <a:r>
                <a:rPr lang="en-US" altLang="zh-CN" sz="1700" dirty="0">
                  <a:solidFill>
                    <a:schemeClr val="tx1"/>
                  </a:solidFill>
                  <a:latin typeface="Palatino Linotype" panose="02040502050505030304" charset="0"/>
                  <a:cs typeface="Palatino Linotype" panose="02040502050505030304" charset="0"/>
                  <a:sym typeface="+mn-ea"/>
                </a:rPr>
                <a:t> to write down my notes.</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2979966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98015"/>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1</a:t>
              </a: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am confused that the 64-bit architecture is widely used but why the tutorial mainly talks about </a:t>
              </a:r>
              <a:r>
                <a:rPr lang="en-US" altLang="zh-CN" sz="1600" b="0" i="0" dirty="0">
                  <a:solidFill>
                    <a:srgbClr val="000000"/>
                  </a:solidFill>
                  <a:effectLst/>
                  <a:latin typeface="Nunito" panose="020B0604020202020204" pitchFamily="2" charset="0"/>
                </a:rPr>
                <a:t>IA-32 architecture ? Why not talk about the 64-bit architecture directly. </a:t>
              </a: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2</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97139" y="670957"/>
            <a:ext cx="5132705" cy="5533900"/>
            <a:chOff x="839" y="1816"/>
            <a:chExt cx="8083" cy="2989"/>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2</a:t>
              </a:r>
            </a:p>
          </p:txBody>
        </p:sp>
        <p:sp>
          <p:nvSpPr>
            <p:cNvPr id="238" name="文本框 237"/>
            <p:cNvSpPr txBox="1"/>
            <p:nvPr>
              <p:custDataLst>
                <p:tags r:id="rId3"/>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AX is the accumulator while the DX is used to stored the data, the difference between them is the AX mainly store the operations while the DX is mainly used for storing the operated data?</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Take the EAX for example, why it is divided into three parts? Just the 32-bit part can’t satisfy the operations the processor  take?</a:t>
              </a:r>
            </a:p>
            <a:p>
              <a:pPr marL="285750" indent="-285750">
                <a:buClr>
                  <a:srgbClr val="00B0F0"/>
                </a:buClr>
                <a:buFont typeface="Wingdings" panose="05000000000000000000" charset="0"/>
                <a:buChar char="u"/>
              </a:pPr>
              <a:r>
                <a:rPr lang="en-US" altLang="zh-CN" sz="1600" dirty="0">
                  <a:hlinkClick r:id="rId6"/>
                </a:rPr>
                <a:t>General Purpose Registers – </a:t>
              </a:r>
              <a:r>
                <a:rPr lang="en-US" altLang="zh-CN" sz="1600" dirty="0" err="1">
                  <a:hlinkClick r:id="rId6"/>
                </a:rPr>
                <a:t>GeeksforGeeks</a:t>
              </a:r>
              <a:r>
                <a:rPr lang="en-US" altLang="zh-CN" sz="1600" dirty="0"/>
                <a:t> </a:t>
              </a:r>
            </a:p>
            <a:p>
              <a:pPr marL="285750" indent="-285750">
                <a:buClr>
                  <a:srgbClr val="00B0F0"/>
                </a:buClr>
                <a:buFont typeface="Wingdings" panose="05000000000000000000" charset="0"/>
                <a:buChar char="u"/>
              </a:pPr>
              <a:r>
                <a:rPr lang="en-US" altLang="zh-CN" sz="1700" dirty="0">
                  <a:solidFill>
                    <a:schemeClr val="accent1"/>
                  </a:solidFill>
                  <a:latin typeface="Palatino Linotype" panose="02040502050505030304" charset="0"/>
                </a:rPr>
                <a:t>I read a blog(mentioned above) , learned that The input and output data is mainly stored in AX and </a:t>
              </a:r>
              <a:r>
                <a:rPr lang="en-US" altLang="zh-CN" sz="1700" dirty="0" err="1">
                  <a:solidFill>
                    <a:schemeClr val="accent1"/>
                  </a:solidFill>
                  <a:latin typeface="Palatino Linotype" panose="02040502050505030304" charset="0"/>
                </a:rPr>
                <a:t>DX,right</a:t>
              </a:r>
              <a:r>
                <a:rPr lang="en-US" altLang="zh-CN" sz="1700" dirty="0">
                  <a:solidFill>
                    <a:schemeClr val="accent1"/>
                  </a:solidFill>
                  <a:latin typeface="Palatino Linotype" panose="02040502050505030304" charset="0"/>
                </a:rPr>
                <a:t>?</a:t>
              </a:r>
              <a:endParaRPr lang="en-US" altLang="zh-CN" sz="1700" dirty="0">
                <a:solidFill>
                  <a:schemeClr val="accent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r>
                <a:rPr lang="en-US" altLang="zh-CN" sz="1700" dirty="0">
                  <a:solidFill>
                    <a:schemeClr val="accent1"/>
                  </a:solidFill>
                  <a:latin typeface="Palatino Linotype" panose="02040502050505030304" charset="0"/>
                  <a:cs typeface="Palatino Linotype" panose="02040502050505030304" charset="0"/>
                  <a:sym typeface="+mn-ea"/>
                </a:rPr>
                <a:t>Also take the AX for example, the 16 bits is </a:t>
              </a:r>
              <a:r>
                <a:rPr lang="en-US" altLang="zh-CN" sz="1700" dirty="0" err="1">
                  <a:solidFill>
                    <a:schemeClr val="accent1"/>
                  </a:solidFill>
                  <a:latin typeface="Palatino Linotype" panose="02040502050505030304" charset="0"/>
                  <a:cs typeface="Palatino Linotype" panose="02040502050505030304" charset="0"/>
                  <a:sym typeface="+mn-ea"/>
                </a:rPr>
                <a:t>splitted</a:t>
              </a:r>
              <a:r>
                <a:rPr lang="en-US" altLang="zh-CN" sz="1700" dirty="0">
                  <a:solidFill>
                    <a:schemeClr val="accent1"/>
                  </a:solidFill>
                  <a:latin typeface="Palatino Linotype" panose="02040502050505030304" charset="0"/>
                  <a:cs typeface="Palatino Linotype" panose="02040502050505030304" charset="0"/>
                  <a:sym typeface="+mn-ea"/>
                </a:rPr>
                <a:t> into two 8-bit parts, it allows the CPU execute 8-bit instructions as well so that the computer can run some 8-bit project , right?</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4" name="图片 3">
            <a:extLst>
              <a:ext uri="{FF2B5EF4-FFF2-40B4-BE49-F238E27FC236}">
                <a16:creationId xmlns:a16="http://schemas.microsoft.com/office/drawing/2014/main" id="{F6985662-F75D-FA80-B11D-0A4270247A0F}"/>
              </a:ext>
            </a:extLst>
          </p:cNvPr>
          <p:cNvPicPr>
            <a:picLocks noChangeAspect="1"/>
          </p:cNvPicPr>
          <p:nvPr/>
        </p:nvPicPr>
        <p:blipFill>
          <a:blip r:embed="rId7"/>
          <a:stretch>
            <a:fillRect/>
          </a:stretch>
        </p:blipFill>
        <p:spPr>
          <a:xfrm>
            <a:off x="5874137" y="1236865"/>
            <a:ext cx="5132705" cy="2284170"/>
          </a:xfrm>
          <a:prstGeom prst="rect">
            <a:avLst/>
          </a:prstGeom>
        </p:spPr>
      </p:pic>
    </p:spTree>
    <p:extLst>
      <p:ext uri="{BB962C8B-B14F-4D97-AF65-F5344CB8AC3E}">
        <p14:creationId xmlns:p14="http://schemas.microsoft.com/office/powerpoint/2010/main" val="2212550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3</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4291929"/>
            <a:chOff x="839" y="1816"/>
            <a:chExt cx="8083" cy="4010"/>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3</a:t>
              </a:r>
            </a:p>
          </p:txBody>
        </p:sp>
        <p:sp>
          <p:nvSpPr>
            <p:cNvPr id="238" name="文本框 237"/>
            <p:cNvSpPr txBox="1"/>
            <p:nvPr>
              <p:custDataLst>
                <p:tags r:id="rId3"/>
              </p:custDataLst>
            </p:nvPr>
          </p:nvSpPr>
          <p:spPr>
            <a:xfrm>
              <a:off x="839" y="2323"/>
              <a:ext cx="8083" cy="3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As I learned 16-bit intel architecture widely use </a:t>
              </a:r>
              <a:r>
                <a:rPr lang="en-US" altLang="zh-CN" sz="1700" dirty="0" err="1">
                  <a:solidFill>
                    <a:schemeClr val="tx1"/>
                  </a:solidFill>
                  <a:latin typeface="Palatino Linotype" panose="02040502050505030304" charset="0"/>
                  <a:cs typeface="Palatino Linotype" panose="02040502050505030304" charset="0"/>
                  <a:sym typeface="+mn-ea"/>
                </a:rPr>
                <a:t>segment:offset</a:t>
              </a:r>
              <a:r>
                <a:rPr lang="en-US" altLang="zh-CN" sz="1700" dirty="0">
                  <a:solidFill>
                    <a:schemeClr val="tx1"/>
                  </a:solidFill>
                  <a:latin typeface="Palatino Linotype" panose="02040502050505030304" charset="0"/>
                  <a:cs typeface="Palatino Linotype" panose="02040502050505030304" charset="0"/>
                  <a:sym typeface="+mn-ea"/>
                </a:rPr>
                <a:t>(</a:t>
              </a:r>
              <a:r>
                <a:rPr lang="en-US" altLang="zh-CN" sz="1700" dirty="0" err="1">
                  <a:solidFill>
                    <a:schemeClr val="tx1"/>
                  </a:solidFill>
                  <a:latin typeface="Palatino Linotype" panose="02040502050505030304" charset="0"/>
                  <a:cs typeface="Palatino Linotype" panose="02040502050505030304" charset="0"/>
                  <a:sym typeface="+mn-ea"/>
                </a:rPr>
                <a:t>ss:sp</a:t>
              </a:r>
              <a:r>
                <a:rPr lang="en-US" altLang="zh-CN" sz="1700" dirty="0">
                  <a:solidFill>
                    <a:schemeClr val="tx1"/>
                  </a:solidFill>
                  <a:latin typeface="Palatino Linotype" panose="02040502050505030304" charset="0"/>
                  <a:cs typeface="Palatino Linotype" panose="02040502050505030304" charset="0"/>
                  <a:sym typeface="+mn-ea"/>
                </a:rPr>
                <a:t>) to address a memory address. The memory is 20-bit wide so we need this way to address . But the 32-bit architecture is enough for the 20-bit wide address in memory , so we don’t need to use SS register for addressing a memory address right?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read some blogs , learning that SS register is used for locating memory segment while the SP register stores the offset related to the ‘top’ of a    memory segment. </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909703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3519805"/>
            <a:chOff x="769" y="1816"/>
            <a:chExt cx="8083" cy="5543"/>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 1</a:t>
              </a:r>
            </a:p>
          </p:txBody>
        </p:sp>
        <p:sp>
          <p:nvSpPr>
            <p:cNvPr id="238" name="文本框 237"/>
            <p:cNvSpPr txBox="1"/>
            <p:nvPr>
              <p:custDataLst>
                <p:tags r:id="rId3"/>
              </p:custDataLst>
            </p:nvPr>
          </p:nvSpPr>
          <p:spPr>
            <a:xfrm>
              <a:off x="769" y="2181"/>
              <a:ext cx="8083" cy="5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want use vs to write some assembly code , but I still don’t know how to write assembly code clearly, so I will learn from </a:t>
              </a:r>
              <a:r>
                <a:rPr lang="en-US" altLang="zh-CN" sz="1700" dirty="0" err="1">
                  <a:solidFill>
                    <a:schemeClr val="tx1"/>
                  </a:solidFill>
                  <a:latin typeface="Palatino Linotype" panose="02040502050505030304" charset="0"/>
                  <a:cs typeface="Palatino Linotype" panose="02040502050505030304" charset="0"/>
                  <a:sym typeface="+mn-ea"/>
                </a:rPr>
                <a:t>bilibili</a:t>
              </a:r>
              <a:r>
                <a:rPr lang="en-US" altLang="zh-CN" sz="1700" dirty="0">
                  <a:solidFill>
                    <a:schemeClr val="tx1"/>
                  </a:solidFill>
                  <a:latin typeface="Palatino Linotype" panose="02040502050505030304" charset="0"/>
                  <a:cs typeface="Palatino Linotype" panose="02040502050505030304" charset="0"/>
                  <a:sym typeface="+mn-ea"/>
                </a:rPr>
                <a:t>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prefer to get the environment set up to run Assembly Language.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plan to finish this tutorial in two weeks.</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This month is the last month in this term , so I need to prepare for my final exam . </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ViYjA4YjczODZkNzY4ZmRmNjg2ZmVlYjE2OGMwNTAifQ=="/>
  <p:tag name="KSO_WPP_MARK_KEY" val="e6c85fa1-cd61-4d87-b6eb-0c65704176e6"/>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535</TotalTime>
  <Words>472</Words>
  <Application>Microsoft Office PowerPoint</Application>
  <PresentationFormat>宽屏</PresentationFormat>
  <Paragraphs>47</Paragraphs>
  <Slides>7</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微软雅黑</vt:lpstr>
      <vt:lpstr>Arial</vt:lpstr>
      <vt:lpstr>Calibri</vt:lpstr>
      <vt:lpstr>Calibri Light</vt:lpstr>
      <vt:lpstr>Nunito</vt:lpstr>
      <vt:lpstr>Palatino Linotype</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Zhong, Fangtian</dc:creator>
  <cp:lastModifiedBy>钱 卓雲</cp:lastModifiedBy>
  <cp:revision>19</cp:revision>
  <dcterms:created xsi:type="dcterms:W3CDTF">2022-09-21T15:51:00Z</dcterms:created>
  <dcterms:modified xsi:type="dcterms:W3CDTF">2023-06-07T02:18:24Z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CC2C0F941B7A40BB95BC861408F20AFB_12</vt:lpwstr>
  </property>
  <property fmtid="{D5CDD505-2E9C-101B-9397-08002B2CF9AE}" pid="3" name="KSOProductBuildVer">
    <vt:lpwstr>2052-11.1.0.14309</vt:lpwstr>
  </property>
</Properties>
</file>